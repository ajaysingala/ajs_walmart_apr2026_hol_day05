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3" r:id="rId4"/>
    <p:sldId id="262" r:id="rId5"/>
    <p:sldId id="264" r:id="rId6"/>
    <p:sldId id="257" r:id="rId7"/>
    <p:sldId id="283" r:id="rId8"/>
    <p:sldId id="284" r:id="rId9"/>
    <p:sldId id="285" r:id="rId10"/>
    <p:sldId id="286" r:id="rId11"/>
    <p:sldId id="287" r:id="rId12"/>
    <p:sldId id="288" r:id="rId13"/>
    <p:sldId id="299" r:id="rId14"/>
    <p:sldId id="290" r:id="rId15"/>
    <p:sldId id="292" r:id="rId16"/>
    <p:sldId id="293" r:id="rId17"/>
    <p:sldId id="294" r:id="rId18"/>
    <p:sldId id="295" r:id="rId19"/>
    <p:sldId id="300" r:id="rId20"/>
    <p:sldId id="301" r:id="rId21"/>
    <p:sldId id="282" r:id="rId22"/>
    <p:sldId id="350" r:id="rId23"/>
    <p:sldId id="304" r:id="rId24"/>
    <p:sldId id="35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jay-singala-bb0b771/" TargetMode="External"/><Relationship Id="rId2" Type="http://schemas.openxmlformats.org/officeDocument/2006/relationships/hyperlink" Target="mailto:Ajay.Singala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jay-singala-bb0b771/" TargetMode="External"/><Relationship Id="rId2" Type="http://schemas.openxmlformats.org/officeDocument/2006/relationships/hyperlink" Target="mailto:ajay.singala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mzn.in/d/0bnRMSMG" TargetMode="External"/><Relationship Id="rId4" Type="http://schemas.openxmlformats.org/officeDocument/2006/relationships/hyperlink" Target="https://shorturl.at/lLDdQ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pgrad1.typeform.com/to/bSKs4OZV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cloud.microsoft/r/z749XzLRC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948-EEF8-4DD6-E0F2-5D46ABF1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5481-C77F-A06F-39DF-2B28E6913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Ajay.Singala@gmail.com</a:t>
            </a:r>
            <a:endParaRPr lang="en-US" dirty="0"/>
          </a:p>
          <a:p>
            <a:endParaRPr lang="en-US" dirty="0"/>
          </a:p>
          <a:p>
            <a:r>
              <a:rPr lang="en-IN" dirty="0">
                <a:hlinkClick r:id="rId3"/>
              </a:rPr>
              <a:t>https://www.linkedin.com/in/ajay-singala-bb0b771/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850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Performance Latency and Cost Optimization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Cost Awareness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Token Usage Fundamentals</a:t>
            </a:r>
          </a:p>
          <a:p>
            <a:pPr lvl="1"/>
            <a:r>
              <a:rPr lang="en-IN" dirty="0"/>
              <a:t>LLM cost = </a:t>
            </a:r>
            <a:r>
              <a:rPr lang="en-IN" b="1" dirty="0"/>
              <a:t>Input tokens + Output tokens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Tokens ≠ words (roughly: 1 token ≈ ¾ word)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Prompt:</a:t>
            </a:r>
          </a:p>
          <a:p>
            <a:pPr marL="1371600" lvl="3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policy in 3 bullet points”</a:t>
            </a:r>
          </a:p>
          <a:p>
            <a:pPr lvl="2"/>
            <a:r>
              <a:rPr lang="en-IN" dirty="0"/>
              <a:t>Short prompt → fewer tokens → cheaper </a:t>
            </a:r>
          </a:p>
          <a:p>
            <a:pPr lvl="2"/>
            <a:r>
              <a:rPr lang="en-IN" dirty="0"/>
              <a:t>Long prompt with unnecessary context → higher cost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Key Insight</a:t>
            </a:r>
          </a:p>
          <a:p>
            <a:pPr lvl="2"/>
            <a:r>
              <a:rPr lang="en-IN" b="1" dirty="0"/>
              <a:t>Every extra word you send = money spent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95BB-4124-273B-AEB1-F5CC2A77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3225-6DA6-86CD-F36E-D6894BE0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D4B9-06B1-7427-1D5A-9C3DC9FA1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Prompt Shortening Techniques</a:t>
            </a:r>
          </a:p>
          <a:p>
            <a:pPr lvl="1"/>
            <a:r>
              <a:rPr lang="en-US" b="1" dirty="0"/>
              <a:t>Bad Prompt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“You are a highly intelligent assistant. Please carefully analyze the following document and provide a detailed but concise answer…”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Better Prompt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in 3 bullets:”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Techniques</a:t>
            </a:r>
          </a:p>
          <a:p>
            <a:pPr lvl="2"/>
            <a:r>
              <a:rPr lang="en-US" dirty="0"/>
              <a:t>Remove: </a:t>
            </a:r>
          </a:p>
          <a:p>
            <a:pPr lvl="3"/>
            <a:r>
              <a:rPr lang="en-US" dirty="0"/>
              <a:t>Role fluff (“You are an expert…”)  where not required</a:t>
            </a:r>
          </a:p>
          <a:p>
            <a:pPr lvl="3"/>
            <a:r>
              <a:rPr lang="en-US" dirty="0"/>
              <a:t>Redundant instructions </a:t>
            </a:r>
          </a:p>
          <a:p>
            <a:pPr lvl="2"/>
            <a:r>
              <a:rPr lang="en-US" dirty="0"/>
              <a:t>Use: </a:t>
            </a:r>
          </a:p>
          <a:p>
            <a:pPr lvl="3"/>
            <a:r>
              <a:rPr lang="en-US" dirty="0"/>
              <a:t>Bullet constraints </a:t>
            </a:r>
          </a:p>
          <a:p>
            <a:pPr lvl="3"/>
            <a:r>
              <a:rPr lang="en-US" dirty="0"/>
              <a:t>Structured prompts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Instead of: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“Explain the reimbursement policy in detail”</a:t>
            </a:r>
          </a:p>
          <a:p>
            <a:pPr lvl="2"/>
            <a:r>
              <a:rPr lang="en-US" dirty="0"/>
              <a:t>Use: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“List reimbursement limits in bullets”</a:t>
            </a:r>
          </a:p>
          <a:p>
            <a:pPr lvl="2"/>
            <a:r>
              <a:rPr lang="en-US" dirty="0"/>
              <a:t>Same output quality, lower cost</a:t>
            </a:r>
          </a:p>
        </p:txBody>
      </p:sp>
    </p:spTree>
    <p:extLst>
      <p:ext uri="{BB962C8B-B14F-4D97-AF65-F5344CB8AC3E}">
        <p14:creationId xmlns:p14="http://schemas.microsoft.com/office/powerpoint/2010/main" val="173054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85C6-0C9C-8D9D-C0D1-D5B27E78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1EF3-5D5E-08A0-1D7C-60F91FC0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48BD2-D936-604D-16C0-ABEEE284D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Response Caching Strategies</a:t>
            </a:r>
          </a:p>
          <a:p>
            <a:pPr lvl="1"/>
            <a:r>
              <a:rPr lang="en-US" b="1" dirty="0"/>
              <a:t>Idea</a:t>
            </a:r>
          </a:p>
          <a:p>
            <a:pPr lvl="2"/>
            <a:r>
              <a:rPr lang="en-US" dirty="0"/>
              <a:t>If the </a:t>
            </a:r>
            <a:r>
              <a:rPr lang="en-US" b="1" dirty="0"/>
              <a:t>same question comes again → don’t call the LLM again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Customer asks: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“What is the travel reimbursement policy?”</a:t>
            </a:r>
          </a:p>
          <a:p>
            <a:pPr lvl="2"/>
            <a:r>
              <a:rPr lang="en-US" dirty="0"/>
              <a:t>First time → LLM call </a:t>
            </a:r>
          </a:p>
          <a:p>
            <a:pPr lvl="2"/>
            <a:r>
              <a:rPr lang="en-US" dirty="0"/>
              <a:t>Next 100 times → return cached answer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Types of Caching</a:t>
            </a:r>
          </a:p>
          <a:p>
            <a:pPr lvl="2"/>
            <a:r>
              <a:rPr lang="en-US" dirty="0"/>
              <a:t>Exact match caching </a:t>
            </a:r>
          </a:p>
          <a:p>
            <a:pPr lvl="2"/>
            <a:r>
              <a:rPr lang="en-US" dirty="0"/>
              <a:t>Semantic caching (similar questions)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Benefit</a:t>
            </a:r>
          </a:p>
          <a:p>
            <a:pPr lvl="2"/>
            <a:r>
              <a:rPr lang="en-US" dirty="0"/>
              <a:t>Can reduce cost by </a:t>
            </a:r>
            <a:r>
              <a:rPr lang="en-US" b="1" dirty="0"/>
              <a:t>50–90% in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6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2C9F-117B-4E98-AE0B-31529AC8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D459-1107-70E7-977E-0CBA5BFF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vs Quality Trade-offs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EDB869-6A51-AC89-39C4-B0CF21A68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435306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901383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283771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01050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7767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651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FAQs,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53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reasoning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4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093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RAG-heavy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81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9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12EA4-41D5-BE9E-0A66-853B09D4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AF2990-75A6-DA72-1878-233B1420A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74D61-6667-C5B6-3CEC-620B2705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Latency Optimization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50042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CF05-4DDB-0A5D-FCE5-CA24F427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8CC1-084D-117C-D2A4-5CB3597E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2CF7-D1F3-9C7D-F1BD-677E78DB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Async LLM Calls</a:t>
            </a:r>
          </a:p>
          <a:p>
            <a:pPr lvl="1"/>
            <a:r>
              <a:rPr lang="en-US" b="1" dirty="0"/>
              <a:t>Idea</a:t>
            </a:r>
          </a:p>
          <a:p>
            <a:pPr lvl="2"/>
            <a:r>
              <a:rPr lang="en-US" dirty="0"/>
              <a:t>Don’t wait for one call to finish before starting another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Instead of:</a:t>
            </a:r>
          </a:p>
          <a:p>
            <a:pPr lvl="3"/>
            <a:r>
              <a:rPr lang="en-US" dirty="0"/>
              <a:t>Get summary </a:t>
            </a:r>
          </a:p>
          <a:p>
            <a:pPr lvl="3"/>
            <a:r>
              <a:rPr lang="en-US" dirty="0"/>
              <a:t>Then generate keywords </a:t>
            </a:r>
          </a:p>
          <a:p>
            <a:pPr lvl="3"/>
            <a:r>
              <a:rPr lang="en-US" dirty="0"/>
              <a:t>Then classify </a:t>
            </a:r>
          </a:p>
          <a:p>
            <a:pPr lvl="3"/>
            <a:r>
              <a:rPr lang="en-US" dirty="0"/>
              <a:t>Do:</a:t>
            </a:r>
          </a:p>
          <a:p>
            <a:pPr lvl="4"/>
            <a:r>
              <a:rPr lang="en-US" dirty="0"/>
              <a:t>Run all 3 at the same time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Result</a:t>
            </a:r>
          </a:p>
          <a:p>
            <a:pPr lvl="3"/>
            <a:r>
              <a:rPr lang="en-US" dirty="0"/>
              <a:t>Sequential: 6 seconds </a:t>
            </a:r>
          </a:p>
          <a:p>
            <a:pPr lvl="3"/>
            <a:r>
              <a:rPr lang="en-US" dirty="0"/>
              <a:t>Async: 2 seconds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8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553B-05EF-419D-4DD1-A1DB7C63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C2AF-B057-121C-1966-793D4784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8BB5-B15E-4B93-C006-F100F4498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Parallel Retrieval &amp; Tool Execution</a:t>
            </a:r>
          </a:p>
          <a:p>
            <a:pPr lvl="1"/>
            <a:r>
              <a:rPr lang="en-IN" b="1" dirty="0"/>
              <a:t>Problem</a:t>
            </a:r>
          </a:p>
          <a:p>
            <a:pPr lvl="2"/>
            <a:r>
              <a:rPr lang="en-IN" dirty="0"/>
              <a:t>RAG systems often:</a:t>
            </a:r>
          </a:p>
          <a:p>
            <a:pPr lvl="3"/>
            <a:r>
              <a:rPr lang="en-IN" dirty="0"/>
              <a:t>Retrieve docs → then call tools → then LLM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Better Approach</a:t>
            </a:r>
          </a:p>
          <a:p>
            <a:pPr lvl="2"/>
            <a:r>
              <a:rPr lang="en-IN" dirty="0"/>
              <a:t>Do retrieval + tool calls in parallel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User asks:</a:t>
            </a:r>
          </a:p>
          <a:p>
            <a:pPr lvl="3"/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“What is policy and reimbursement total for 3 days?”</a:t>
            </a:r>
          </a:p>
          <a:p>
            <a:pPr lvl="2"/>
            <a:r>
              <a:rPr lang="en-IN" dirty="0"/>
              <a:t>System:</a:t>
            </a:r>
          </a:p>
          <a:p>
            <a:pPr lvl="3"/>
            <a:r>
              <a:rPr lang="en-IN" dirty="0"/>
              <a:t>Retrieve policy docs </a:t>
            </a:r>
          </a:p>
          <a:p>
            <a:pPr lvl="3"/>
            <a:r>
              <a:rPr lang="en-IN" dirty="0"/>
              <a:t>Calculate cost</a:t>
            </a:r>
          </a:p>
          <a:p>
            <a:pPr marL="1371600" lvl="3" indent="0">
              <a:buNone/>
            </a:pPr>
            <a:r>
              <a:rPr lang="en-IN" dirty="0"/>
              <a:t>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338717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6D5B-16B3-B8F2-75BB-E4B5AFD1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B853-794F-7692-4026-32B2B093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FA803-B56D-68D0-1D42-FD5BC9ACD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Latency Measurement Techniques</a:t>
            </a:r>
          </a:p>
          <a:p>
            <a:pPr lvl="1"/>
            <a:r>
              <a:rPr lang="en-US" b="1" dirty="0"/>
              <a:t>What to Measure</a:t>
            </a:r>
          </a:p>
          <a:p>
            <a:pPr lvl="2"/>
            <a:r>
              <a:rPr lang="en-US" dirty="0"/>
              <a:t>LLM response time </a:t>
            </a:r>
          </a:p>
          <a:p>
            <a:pPr lvl="2"/>
            <a:r>
              <a:rPr lang="en-US" dirty="0"/>
              <a:t>Retrieval time </a:t>
            </a:r>
          </a:p>
          <a:p>
            <a:pPr lvl="2"/>
            <a:r>
              <a:rPr lang="en-US" dirty="0"/>
              <a:t>Tool execution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8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3309-07C5-E3DD-66A0-C584AE2C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141C-7455-3F79-EDCE-B9940A56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E74C-781B-5852-D429-1C6C6458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User-Perceived vs System Latency</a:t>
            </a:r>
          </a:p>
          <a:p>
            <a:pPr lvl="1"/>
            <a:r>
              <a:rPr lang="en-IN" b="1" dirty="0"/>
              <a:t>System Latency</a:t>
            </a:r>
          </a:p>
          <a:p>
            <a:pPr lvl="2"/>
            <a:r>
              <a:rPr lang="en-IN" dirty="0"/>
              <a:t>Actual processing time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User-Perceived Latency</a:t>
            </a:r>
          </a:p>
          <a:p>
            <a:pPr lvl="2"/>
            <a:r>
              <a:rPr lang="en-IN" dirty="0"/>
              <a:t>What user </a:t>
            </a:r>
            <a:r>
              <a:rPr lang="en-IN" i="1" dirty="0"/>
              <a:t>feels</a:t>
            </a:r>
            <a:endParaRPr lang="en-IN" dirty="0"/>
          </a:p>
          <a:p>
            <a:pPr lvl="1"/>
            <a:endParaRPr lang="en-IN" b="1" dirty="0"/>
          </a:p>
          <a:p>
            <a:pPr lvl="1"/>
            <a:r>
              <a:rPr lang="en-IN" b="1" dirty="0"/>
              <a:t>Trick</a:t>
            </a:r>
          </a:p>
          <a:p>
            <a:pPr lvl="2"/>
            <a:r>
              <a:rPr lang="en-IN" dirty="0"/>
              <a:t>Streaming responses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Without streaming → user waits 3 sec </a:t>
            </a:r>
          </a:p>
          <a:p>
            <a:pPr lvl="2"/>
            <a:r>
              <a:rPr lang="en-IN" dirty="0"/>
              <a:t>With streaming → user sees response in 0.5 sec </a:t>
            </a:r>
          </a:p>
          <a:p>
            <a:pPr lvl="2"/>
            <a:r>
              <a:rPr lang="en-IN" dirty="0"/>
              <a:t>Same system latency, better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85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147B9-7CA1-2BFB-3BAE-22394C60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1E8737-4CCE-1CDA-1452-D7FE9F322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FC7A4-EC18-2FF0-3B55-35CCC111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Production Readiness Review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007484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D9CB-6300-D4D8-8053-5AD7FE79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92F3-C696-9CD5-806B-E741CC5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Readiness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7105-20DC-61DB-4A72-F86FE429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Reliability &amp; Fallback Strategies</a:t>
            </a:r>
          </a:p>
          <a:p>
            <a:pPr lvl="1"/>
            <a:r>
              <a:rPr lang="en-US" b="1" dirty="0"/>
              <a:t>Why?</a:t>
            </a:r>
          </a:p>
          <a:p>
            <a:pPr lvl="2"/>
            <a:r>
              <a:rPr lang="en-US" dirty="0"/>
              <a:t>LLMs can fail:</a:t>
            </a:r>
          </a:p>
          <a:p>
            <a:pPr lvl="3"/>
            <a:r>
              <a:rPr lang="en-US" dirty="0"/>
              <a:t>Timeout </a:t>
            </a:r>
          </a:p>
          <a:p>
            <a:pPr lvl="3"/>
            <a:r>
              <a:rPr lang="en-US" dirty="0"/>
              <a:t>Hallucination </a:t>
            </a:r>
          </a:p>
          <a:p>
            <a:pPr lvl="3"/>
            <a:r>
              <a:rPr lang="en-US" dirty="0"/>
              <a:t>API errors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Strategies</a:t>
            </a:r>
          </a:p>
          <a:p>
            <a:pPr lvl="2"/>
            <a:r>
              <a:rPr lang="en-US" dirty="0"/>
              <a:t>Retry (2–3 times) </a:t>
            </a:r>
          </a:p>
          <a:p>
            <a:pPr lvl="2"/>
            <a:r>
              <a:rPr lang="en-US" dirty="0"/>
              <a:t>Fallback model </a:t>
            </a:r>
          </a:p>
          <a:p>
            <a:pPr lvl="2"/>
            <a:r>
              <a:rPr lang="en-US" dirty="0"/>
              <a:t>Rule-based backup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If LLM fails, return: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“Unable to process. Showing policy summary instead.”</a:t>
            </a:r>
          </a:p>
        </p:txBody>
      </p:sp>
    </p:spTree>
    <p:extLst>
      <p:ext uri="{BB962C8B-B14F-4D97-AF65-F5344CB8AC3E}">
        <p14:creationId xmlns:p14="http://schemas.microsoft.com/office/powerpoint/2010/main" val="111969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D982-535A-7286-0C9A-A24DE7B6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6192-CF4E-C775-99B3-5BABE686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Production Readiness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186D-47E9-005E-00A7-1D1947BF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Observability Coverage Checklist</a:t>
            </a:r>
          </a:p>
          <a:p>
            <a:pPr lvl="1"/>
            <a:r>
              <a:rPr lang="en-IN" dirty="0"/>
              <a:t>Track everything:</a:t>
            </a:r>
          </a:p>
          <a:p>
            <a:pPr lvl="2"/>
            <a:r>
              <a:rPr lang="en-IN" b="1" dirty="0"/>
              <a:t>Inputs</a:t>
            </a:r>
          </a:p>
          <a:p>
            <a:pPr lvl="3"/>
            <a:r>
              <a:rPr lang="en-IN" dirty="0"/>
              <a:t>Prompt </a:t>
            </a:r>
          </a:p>
          <a:p>
            <a:pPr lvl="3"/>
            <a:r>
              <a:rPr lang="en-IN" dirty="0"/>
              <a:t>Retrieved documents </a:t>
            </a:r>
          </a:p>
          <a:p>
            <a:pPr lvl="2"/>
            <a:endParaRPr lang="en-IN" b="1" dirty="0"/>
          </a:p>
          <a:p>
            <a:pPr lvl="2"/>
            <a:r>
              <a:rPr lang="en-IN" b="1" dirty="0"/>
              <a:t>Outputs</a:t>
            </a:r>
          </a:p>
          <a:p>
            <a:pPr lvl="3"/>
            <a:r>
              <a:rPr lang="en-IN" dirty="0"/>
              <a:t>LLM response </a:t>
            </a:r>
          </a:p>
          <a:p>
            <a:pPr lvl="3"/>
            <a:r>
              <a:rPr lang="en-IN" dirty="0"/>
              <a:t>Confidence / evaluation score </a:t>
            </a:r>
          </a:p>
          <a:p>
            <a:pPr lvl="2"/>
            <a:endParaRPr lang="en-IN" b="1" dirty="0"/>
          </a:p>
          <a:p>
            <a:pPr lvl="2"/>
            <a:r>
              <a:rPr lang="en-IN" b="1" dirty="0"/>
              <a:t>Metrics</a:t>
            </a:r>
          </a:p>
          <a:p>
            <a:pPr lvl="3"/>
            <a:r>
              <a:rPr lang="en-IN" dirty="0"/>
              <a:t>Latency </a:t>
            </a:r>
          </a:p>
          <a:p>
            <a:pPr lvl="3"/>
            <a:r>
              <a:rPr lang="en-IN" dirty="0"/>
              <a:t>Cost </a:t>
            </a:r>
          </a:p>
          <a:p>
            <a:pPr lvl="3"/>
            <a:r>
              <a:rPr lang="en-IN" dirty="0"/>
              <a:t>Errors </a:t>
            </a:r>
          </a:p>
          <a:p>
            <a:pPr lvl="2"/>
            <a:endParaRPr lang="en-IN" dirty="0"/>
          </a:p>
          <a:p>
            <a:pPr lvl="1"/>
            <a:r>
              <a:rPr lang="en-IN" dirty="0"/>
              <a:t>Without observability = blind system</a:t>
            </a:r>
          </a:p>
        </p:txBody>
      </p:sp>
    </p:spTree>
    <p:extLst>
      <p:ext uri="{BB962C8B-B14F-4D97-AF65-F5344CB8AC3E}">
        <p14:creationId xmlns:p14="http://schemas.microsoft.com/office/powerpoint/2010/main" val="336659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BEE1-5D50-EFA2-FCF3-D790336E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BBDF-66B8-90CD-5DAB-940A6B78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Production Readiness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7CDE-D993-EFD8-DF96-378B994B4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Readiness for Real-World Traffic</a:t>
            </a:r>
          </a:p>
          <a:p>
            <a:pPr lvl="1"/>
            <a:r>
              <a:rPr lang="en-US" b="1" dirty="0"/>
              <a:t>Challenges</a:t>
            </a:r>
          </a:p>
          <a:p>
            <a:pPr lvl="2"/>
            <a:r>
              <a:rPr lang="en-US" dirty="0"/>
              <a:t>High concurrency </a:t>
            </a:r>
          </a:p>
          <a:p>
            <a:pPr lvl="2"/>
            <a:r>
              <a:rPr lang="en-US" dirty="0"/>
              <a:t>Spikes (sale events, peak hours)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During sale:</a:t>
            </a:r>
          </a:p>
          <a:p>
            <a:pPr lvl="2"/>
            <a:r>
              <a:rPr lang="en-US" dirty="0"/>
              <a:t>10 → 10,000 users suddenly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What to Ensure</a:t>
            </a:r>
          </a:p>
          <a:p>
            <a:pPr lvl="2"/>
            <a:r>
              <a:rPr lang="en-US" dirty="0"/>
              <a:t>Rate limiting </a:t>
            </a:r>
          </a:p>
          <a:p>
            <a:pPr lvl="2"/>
            <a:r>
              <a:rPr lang="en-US" dirty="0"/>
              <a:t>Queueing </a:t>
            </a:r>
          </a:p>
          <a:p>
            <a:pPr lvl="2"/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45134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8A8D-30A6-C769-8687-5662B018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1AA3-7B1C-C948-1851-07B19F8A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Production Readiness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5022-FAB4-3FF1-8E5D-3787B779D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Production Anti-Patterns</a:t>
            </a:r>
          </a:p>
          <a:p>
            <a:pPr marL="457200" lvl="1" indent="0">
              <a:buNone/>
            </a:pPr>
            <a:r>
              <a:rPr lang="en-US" b="1" dirty="0"/>
              <a:t>1. Overloading prompts</a:t>
            </a:r>
          </a:p>
          <a:p>
            <a:pPr lvl="2"/>
            <a:r>
              <a:rPr lang="en-US" dirty="0"/>
              <a:t>Too much context → high cost + slow</a:t>
            </a:r>
          </a:p>
          <a:p>
            <a:pPr marL="457200" lvl="1" indent="0">
              <a:buNone/>
            </a:pPr>
            <a:r>
              <a:rPr lang="en-US" b="1" dirty="0"/>
              <a:t>2. No caching</a:t>
            </a:r>
          </a:p>
          <a:p>
            <a:pPr lvl="2"/>
            <a:r>
              <a:rPr lang="en-US" dirty="0"/>
              <a:t>Repeated identical calls → waste of money</a:t>
            </a:r>
          </a:p>
          <a:p>
            <a:pPr marL="457200" lvl="1" indent="0">
              <a:buNone/>
            </a:pPr>
            <a:r>
              <a:rPr lang="en-US" b="1" dirty="0"/>
              <a:t>3. Using one model for everything</a:t>
            </a:r>
          </a:p>
          <a:p>
            <a:pPr lvl="2"/>
            <a:r>
              <a:rPr lang="en-US" dirty="0"/>
              <a:t>Expensive and inefficient</a:t>
            </a:r>
          </a:p>
          <a:p>
            <a:pPr marL="457200" lvl="1" indent="0">
              <a:buNone/>
            </a:pPr>
            <a:r>
              <a:rPr lang="en-US" b="1" dirty="0"/>
              <a:t>4. No monitoring</a:t>
            </a:r>
          </a:p>
          <a:p>
            <a:pPr lvl="2"/>
            <a:r>
              <a:rPr lang="en-US" dirty="0"/>
              <a:t>Issues detected too late</a:t>
            </a:r>
          </a:p>
          <a:p>
            <a:pPr marL="457200" lvl="1" indent="0">
              <a:buNone/>
            </a:pPr>
            <a:r>
              <a:rPr lang="en-US" b="1" dirty="0"/>
              <a:t>5. Sequential workflows</a:t>
            </a:r>
          </a:p>
          <a:p>
            <a:pPr lvl="2"/>
            <a:r>
              <a:rPr lang="en-US" dirty="0"/>
              <a:t>Slow systems</a:t>
            </a:r>
          </a:p>
        </p:txBody>
      </p:sp>
    </p:spTree>
    <p:extLst>
      <p:ext uri="{BB962C8B-B14F-4D97-AF65-F5344CB8AC3E}">
        <p14:creationId xmlns:p14="http://schemas.microsoft.com/office/powerpoint/2010/main" val="2992762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1F4E-6337-5995-65E0-7E0FB658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8ED7-DE40-ACF9-5259-EB02E107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4449F-5A26-F1FE-8295-78751126A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Cost Optimization</a:t>
            </a:r>
            <a:r>
              <a:rPr lang="en-US" dirty="0"/>
              <a:t> = “Don’t spend unnecessary tokens”</a:t>
            </a:r>
          </a:p>
          <a:p>
            <a:r>
              <a:rPr lang="en-US" b="1" dirty="0"/>
              <a:t>Latency Optimization</a:t>
            </a:r>
            <a:r>
              <a:rPr lang="en-US" dirty="0"/>
              <a:t> = “Don’t make users wait”</a:t>
            </a:r>
          </a:p>
          <a:p>
            <a:r>
              <a:rPr lang="en-US" b="1" dirty="0"/>
              <a:t>Production Readiness</a:t>
            </a:r>
            <a:r>
              <a:rPr lang="en-US" dirty="0"/>
              <a:t> = “Don’t let the system fail in real life”</a:t>
            </a:r>
          </a:p>
          <a:p>
            <a:endParaRPr lang="en-US" dirty="0"/>
          </a:p>
          <a:p>
            <a:r>
              <a:rPr lang="en-US" dirty="0"/>
              <a:t>So,</a:t>
            </a:r>
          </a:p>
          <a:p>
            <a:pPr lvl="1"/>
            <a:r>
              <a:rPr lang="en-US" dirty="0"/>
              <a:t>Reduce tokens 		→ reduce cost</a:t>
            </a:r>
          </a:p>
          <a:p>
            <a:pPr lvl="1"/>
            <a:r>
              <a:rPr lang="en-US" dirty="0"/>
              <a:t>Parallelize 		→ reduce latency</a:t>
            </a:r>
          </a:p>
          <a:p>
            <a:pPr lvl="1"/>
            <a:r>
              <a:rPr lang="en-US" dirty="0"/>
              <a:t>Cache aggressively 	→ save money</a:t>
            </a:r>
          </a:p>
          <a:p>
            <a:pPr lvl="1"/>
            <a:r>
              <a:rPr lang="en-US" dirty="0"/>
              <a:t>Monitor everything 	→ ensure reliability</a:t>
            </a:r>
          </a:p>
          <a:p>
            <a:pPr lvl="1"/>
            <a:r>
              <a:rPr lang="en-US" dirty="0"/>
              <a:t>Use right model for right task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77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Performance, Latency &amp; Cost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9A0F-B371-8350-9043-93BFDF09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866737-057C-CACA-310D-3BFA2DC5D4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9FD59-0B71-1F4F-3702-6B5AE04A6F1F}"/>
              </a:ext>
            </a:extLst>
          </p:cNvPr>
          <p:cNvSpPr txBox="1"/>
          <p:nvPr/>
        </p:nvSpPr>
        <p:spPr>
          <a:xfrm>
            <a:off x="594360" y="566928"/>
            <a:ext cx="16765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0"/>
                </a:solidFill>
              </a:defRPr>
            </a:pPr>
            <a:r>
              <a:rPr lang="en-US" dirty="0"/>
              <a:t>T</a:t>
            </a:r>
            <a:r>
              <a:rPr lang="en-IN" dirty="0"/>
              <a:t>hank you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3B1CEE-1F2F-684C-4123-B9256D195A05}"/>
              </a:ext>
            </a:extLst>
          </p:cNvPr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B3DDD-BA13-B226-BB31-F473CBEAB890}"/>
              </a:ext>
            </a:extLst>
          </p:cNvPr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A5B91"/>
                </a:solidFill>
              </a:defRPr>
            </a:pPr>
            <a:r>
              <a:t>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E9355-B7D8-3500-9EE9-A125054491A1}"/>
              </a:ext>
            </a:extLst>
          </p:cNvPr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</a:defRPr>
            </a:pPr>
            <a:r>
              <a:t>Autonomous Agents in Enterprise Software Delivery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902B2-2D47-011E-7356-2DA2F5A13E72}"/>
              </a:ext>
            </a:extLst>
          </p:cNvPr>
          <p:cNvSpPr txBox="1"/>
          <p:nvPr/>
        </p:nvSpPr>
        <p:spPr>
          <a:xfrm>
            <a:off x="594360" y="1659117"/>
            <a:ext cx="61401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Ajay J. Singala</a:t>
            </a:r>
          </a:p>
          <a:p>
            <a:endParaRPr lang="en-IN" dirty="0"/>
          </a:p>
          <a:p>
            <a:r>
              <a:rPr lang="en-IN" dirty="0">
                <a:hlinkClick r:id="rId2"/>
              </a:rPr>
              <a:t>ajay.singala@gmail.com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https://www.linkedin.com/in/ajay-singala-bb0b771/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Indian Achievers Magazine: </a:t>
            </a:r>
            <a:r>
              <a:rPr lang="en-IN" dirty="0">
                <a:hlinkClick r:id="rId4"/>
              </a:rPr>
              <a:t>https://shorturl.at/lLDdQ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Book: </a:t>
            </a:r>
            <a:r>
              <a:rPr lang="en-IN" dirty="0">
                <a:hlinkClick r:id="rId5"/>
              </a:rPr>
              <a:t>https://amzn.in/d/0bnRMSMG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2509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0454-3D12-1A28-1262-B6760486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Thank you</a:t>
            </a:r>
            <a:endParaRPr lang="en-IN" sz="540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1055F46-5727-CFD2-D034-987E70DA8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522976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Feedback: 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200" dirty="0">
                <a:hlinkClick r:id="rId2"/>
              </a:rPr>
              <a:t>https://upgrad1.typeform.com/to/bSKs4OZV</a:t>
            </a:r>
            <a:r>
              <a:rPr lang="en-US" sz="22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7798B-F35B-5EB7-1774-8DBF211D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526212"/>
            <a:ext cx="5667355" cy="56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53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7FD0-3E99-A869-3780-C07BACCA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B82A-2973-1ADF-E3FA-388841F8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Thank you</a:t>
            </a:r>
            <a:endParaRPr lang="en-IN" sz="540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F548811-594B-0E33-DA8A-71AFAFE6B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788152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Post-Assessment: </a:t>
            </a:r>
          </a:p>
          <a:p>
            <a:pPr marL="0" indent="0">
              <a:buNone/>
            </a:pPr>
            <a:r>
              <a:rPr lang="en-US" sz="2200" dirty="0"/>
              <a:t>  </a:t>
            </a:r>
            <a:r>
              <a:rPr lang="en-US" sz="2200" dirty="0">
                <a:hlinkClick r:id="rId2"/>
              </a:rPr>
              <a:t>https://forms.cloud.microsoft/r/z749XzLRCR</a:t>
            </a:r>
            <a:r>
              <a:rPr lang="en-US" sz="2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7EF72-F646-AD67-775A-2A0CEE290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714375"/>
            <a:ext cx="54292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2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766</Words>
  <Application>Microsoft Office PowerPoint</Application>
  <PresentationFormat>Widescreen</PresentationFormat>
  <Paragraphs>226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Cascadia Code</vt:lpstr>
      <vt:lpstr>Neue Haas Grotesk Text Pro</vt:lpstr>
      <vt:lpstr>Office Theme</vt:lpstr>
      <vt:lpstr>1_Office Theme</vt:lpstr>
      <vt:lpstr>Python Enablement for Gen AI</vt:lpstr>
      <vt:lpstr>Connect</vt:lpstr>
      <vt:lpstr>Performance Latency and Cost Optimization</vt:lpstr>
      <vt:lpstr>Cost Awareness</vt:lpstr>
      <vt:lpstr>Cost Awareness</vt:lpstr>
      <vt:lpstr>Cost Awareness</vt:lpstr>
      <vt:lpstr>Cost Awareness</vt:lpstr>
      <vt:lpstr>Cost vs Quality Trade-offs</vt:lpstr>
      <vt:lpstr>Latency Optimization</vt:lpstr>
      <vt:lpstr>Latency Optimization</vt:lpstr>
      <vt:lpstr>Latency Optimization</vt:lpstr>
      <vt:lpstr>Latency Optimization</vt:lpstr>
      <vt:lpstr>Latency Optimization</vt:lpstr>
      <vt:lpstr>Production Readiness Review</vt:lpstr>
      <vt:lpstr>Production Readiness Review</vt:lpstr>
      <vt:lpstr>Production Readiness Review</vt:lpstr>
      <vt:lpstr>Production Readiness Review</vt:lpstr>
      <vt:lpstr>Production Readiness Review</vt:lpstr>
      <vt:lpstr>Summary</vt:lpstr>
      <vt:lpstr>Demo</vt:lpstr>
      <vt:lpstr>PowerPoint Presentation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94</cp:revision>
  <dcterms:created xsi:type="dcterms:W3CDTF">2026-04-01T13:32:53Z</dcterms:created>
  <dcterms:modified xsi:type="dcterms:W3CDTF">2026-09-25T14:34:06Z</dcterms:modified>
</cp:coreProperties>
</file>