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56" r:id="rId3"/>
    <p:sldId id="262" r:id="rId4"/>
    <p:sldId id="264" r:id="rId5"/>
    <p:sldId id="257" r:id="rId6"/>
    <p:sldId id="283" r:id="rId7"/>
    <p:sldId id="284" r:id="rId8"/>
    <p:sldId id="285" r:id="rId9"/>
    <p:sldId id="286" r:id="rId10"/>
    <p:sldId id="287" r:id="rId11"/>
    <p:sldId id="288" r:id="rId12"/>
    <p:sldId id="299" r:id="rId13"/>
    <p:sldId id="290" r:id="rId14"/>
    <p:sldId id="292" r:id="rId15"/>
    <p:sldId id="293" r:id="rId16"/>
    <p:sldId id="294" r:id="rId17"/>
    <p:sldId id="295" r:id="rId18"/>
    <p:sldId id="300" r:id="rId19"/>
    <p:sldId id="301" r:id="rId20"/>
    <p:sldId id="282" r:id="rId21"/>
    <p:sldId id="277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75" d="100"/>
          <a:sy n="75" d="100"/>
        </p:scale>
        <p:origin x="854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ableStyles" Target="tableStyle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6536CE-E45A-AADF-17CE-62DCAD60B5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CA8B13-14FB-FC7A-AE8D-0443EF2052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9FAD22-9F50-C88D-0933-C106D418B7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BD994-088D-4DFC-A63A-488DD3725837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FD7579-5794-CC00-C045-B791FA7AE0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AFCF2-0DEB-5B31-B526-62EBC37E07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5ACFD-1C5C-4B06-B9EE-CA0B0EE60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5648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EDAFE-2D34-239C-C11E-0D5AB8D34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8CBE48-7C5D-6D04-0FBA-FAAF900AFD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2593B1-9F48-9719-053B-3F5ADE53D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BD994-088D-4DFC-A63A-488DD3725837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469231-46AC-F57A-D902-8D0F88958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53FE03-8F2E-103E-11D0-A27621A03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5ACFD-1C5C-4B06-B9EE-CA0B0EE60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634349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C78430-BCAB-1B0F-AF15-F0E893C430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0653EE-F384-CF59-792F-FF41581401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620D31-6CAE-2FB6-153A-B7FF19081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BD994-088D-4DFC-A63A-488DD3725837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2B98F5-8D12-377B-65EF-BC8BE45B7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329027-F24E-A076-D94C-44638BBC2D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5ACFD-1C5C-4B06-B9EE-CA0B0EE60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447646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7A3F7-DD0E-44ED-4EEB-249AABF7B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EC653D-D49D-A4FA-4A90-363F30C233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149514-69B0-9D75-AB75-91B84E81F7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3F0CED-BEE9-51BC-66AD-2DB565B39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BD994-088D-4DFC-A63A-488DD3725837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B2C858-6BD8-6F6C-18CC-DD61025D42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B96E2B-3604-BDC8-E54A-4D85F5C24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5ACFD-1C5C-4B06-B9EE-CA0B0EE60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213862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B02470-824B-4058-2C01-DBE9700C8C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2100F9-D38B-36A7-7D45-54A621844F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087207-1406-713D-69FC-90C0D7191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5A808A8-687A-6C13-295A-A029B1E363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B54EB28-8FF5-8565-09EB-0291EA601C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2C54A18-0C92-2393-045B-6CAF563B79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BD994-088D-4DFC-A63A-488DD3725837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C1FF9CC-DC04-60BA-6C96-F30AC957B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F5D9D53-A54F-89EC-CCAB-979C254D0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5ACFD-1C5C-4B06-B9EE-CA0B0EE60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007373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202C45-D1E3-2607-6828-9CCF3A969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35398FC-392A-FDAB-C7AE-E6210BBDA7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BD994-088D-4DFC-A63A-488DD3725837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744E78-47C2-5F62-E4D8-2E5E7FD16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0CD9E7-7BAD-60B2-B129-E58DFACE4B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5ACFD-1C5C-4B06-B9EE-CA0B0EE60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178948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D6826F-7C9B-389B-D3BE-3E86EEAEEB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BD994-088D-4DFC-A63A-488DD3725837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DA1C3F-136F-9E45-0514-741B20986F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E01C8C-4DBE-3D21-FAB2-B0DB4A6D8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5ACFD-1C5C-4B06-B9EE-CA0B0EE60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80227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7F5A2E-0099-9832-239F-CA04757EBA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5FC63F-2D86-A29C-17EC-75FA93EC3B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A19F38-C99B-AA2D-6575-D974606101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1C0AA0-FA71-3666-DC1C-D1D8732E11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BD994-088D-4DFC-A63A-488DD3725837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F92665-8BD3-E58B-6F97-5F3F0AEE9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4664A6-5CAB-99D8-788D-084B8C74A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5ACFD-1C5C-4B06-B9EE-CA0B0EE60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033045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57889-AEA8-4506-EEA2-454B0813A8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15FF9DB-8691-04E9-6B36-86362522E9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998241-823E-96F4-D240-F61FF2CAA0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B39A56-F6AD-8E3F-E2B7-79D0D078F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BD994-088D-4DFC-A63A-488DD3725837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A6FDB3-0344-BE41-9AB9-32C3CF2696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070EA6-15F8-B839-7E6E-C5576FCE6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5ACFD-1C5C-4B06-B9EE-CA0B0EE60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219145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0A7AAF-EE17-169F-1AB6-E30AED053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700CEB-5076-D9B7-2D28-2017F009BF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8B8B1B-89D7-F2B2-62B6-12397E624E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BD994-088D-4DFC-A63A-488DD3725837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4E3F9E-F277-4FED-D74A-80D7A5A427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86B7DE-F8D2-63C1-1000-F79563564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5ACFD-1C5C-4B06-B9EE-CA0B0EE60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372266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5DA0CC6-6B5F-7A14-1AF5-214FD7F5B8F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A75CF6-B132-E92D-42E9-B6BEF4BAF6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CF2626-8B84-38A1-4301-6C45FB0C6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BD994-088D-4DFC-A63A-488DD3725837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D5142-E250-53BE-3BE7-1F85F5F0DA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C54A1F-596C-82D3-CF4F-46032471E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5ACFD-1C5C-4B06-B9EE-CA0B0EE60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864566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E412CF-0A97-D6E9-08A7-94B404CA02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7EF4C72-1FF5-95FF-2EF5-016E4E776A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3A4C1B-20B9-D303-48D5-5152F3EC9D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16CEB-1072-4B22-A473-588D7AF62EB2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650320-3EA4-D740-5867-EAF5C6D9F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117687-1800-6FBB-6366-35F680C71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9E4B9-0DD6-4F17-A1A2-1B391774F1B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344260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445846-BF1A-FDA3-AF21-CBDF3817E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55D219-9850-A749-A812-DCC6A050A7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1E396F-1B23-F3A3-0511-7122054817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16CEB-1072-4B22-A473-588D7AF62EB2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2DEF52-9446-668B-36C9-2DBE413EC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1B32EA-BB8E-1A78-E352-195F8DE45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9E4B9-0DD6-4F17-A1A2-1B391774F1B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28257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434D0-95D6-2A03-AEFF-31BFE64BDE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741E04-482B-9185-BE1B-F30C178B76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B69F5A-895A-3E20-0F99-18FC81F598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16CEB-1072-4B22-A473-588D7AF62EB2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B99B35-6AE6-0716-0A3B-488AE99C9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4CC7CD-8462-7600-CB80-9ADFC4A59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9E4B9-0DD6-4F17-A1A2-1B391774F1B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4180684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B1805A-E41A-7AD3-9215-E24984304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87EFB5-C607-A863-1696-A0DCDD2A63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5BF1F4-07D4-6A3A-23A7-7F12DC4E74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476EC5-E88E-A84C-B7F6-A24DA323CB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16CEB-1072-4B22-A473-588D7AF62EB2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AD5988-64CC-0BEF-4262-41FDF2C691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38D28-03B2-C58F-3362-A1606E2F07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9E4B9-0DD6-4F17-A1A2-1B391774F1B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142782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B48FA1-C0E2-F799-F99A-14B6616702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BBE08B-D183-C98F-15F4-3923564B4A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CC617D-6738-8322-64CF-3306D9E901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6C13EF-8921-21AF-446E-43A50265D1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82E4F52-35E7-61A4-8AF5-CC7A3A980AC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B5B8D9-D5AA-5FBB-6C8B-94BD962B9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16CEB-1072-4B22-A473-588D7AF62EB2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FC2B31D-3BC9-100D-3FFE-311A0E85A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47A129-04E8-C66F-66B9-C93EBD408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9E4B9-0DD6-4F17-A1A2-1B391774F1B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268236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74F029-C3BC-0946-5B46-27A62C277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FCEDA22-AFE9-0D01-CE95-7689B19E5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16CEB-1072-4B22-A473-588D7AF62EB2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F270DA7-E55B-3D04-08C6-1A5D4AC69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1A3DB6-CC78-4E99-BF39-B6631CF57D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9E4B9-0DD6-4F17-A1A2-1B391774F1B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440099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02D5020-86FF-29D2-CF0B-41FA1C497B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16CEB-1072-4B22-A473-588D7AF62EB2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812C0C5-2392-1961-1D1D-25D58044F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16E48B-1C67-4D12-8E10-27AC939FF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9E4B9-0DD6-4F17-A1A2-1B391774F1B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1217641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16C026-103E-B109-AB8C-6D44A5153C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4E64F4-13F5-17BC-858F-A91D84A402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4961AB-963E-1504-72A4-A1AB170563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523EF0-71CA-2AA7-FBD0-CEDA44B0D2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16CEB-1072-4B22-A473-588D7AF62EB2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E5D4D8-83C7-F4C3-84E7-A35FB3495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1641F8-F4E2-CAA8-4C5E-A526C2227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9E4B9-0DD6-4F17-A1A2-1B391774F1B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114342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EBA75A-F806-44FF-F25C-125C9BF22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1D945C1-A2FF-5B51-8FCC-CD265E6425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A4E7DE-6EF8-8E36-0FA4-D6C69C6489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8B6497-FC12-FC5C-D1BE-CB3468C572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16CEB-1072-4B22-A473-588D7AF62EB2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1604F6-DC90-44B8-7B77-6063A2FEE9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ADB8FD-00F8-B052-388B-DA323B887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9E4B9-0DD6-4F17-A1A2-1B391774F1B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3467926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979D5-D78B-51A4-D507-10241BD86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20A1C5-E115-C982-D300-680CB9BCFB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18A9CA-6D71-4F05-0745-C5908856A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16CEB-1072-4B22-A473-588D7AF62EB2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F3D602-75B8-A654-AB57-B81FC53058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48E863-DEB4-4044-F68B-76F80BE5E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9E4B9-0DD6-4F17-A1A2-1B391774F1B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7527997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A36B2D-9F42-4E6C-811E-EBB1C46CF7E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BB7E0C-5FD8-5909-7828-CFF87FAF9C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B09456-A7F9-B919-EDFF-77A9B8A48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16CEB-1072-4B22-A473-588D7AF62EB2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9707C0-423A-49F8-7B06-1915C0E0A7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66D5D8-78EF-1E5F-018E-6A0B3F2C1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9E4B9-0DD6-4F17-A1A2-1B391774F1B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785682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2C3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2C32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8736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039B7D-65D6-46E6-4D0D-5248DE3150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87C1B3-42BF-1C76-BE2B-E8E0F8BF69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57298E-FF3A-263A-A4F6-F667A54D77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9BD994-088D-4DFC-A63A-488DD3725837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3B327C-5432-928A-78F3-525A017738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DACEFF-1A2F-E90C-1E3A-45B9DFF323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C5ACFD-1C5C-4B06-B9EE-CA0B0EE6075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243026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3E9012-068E-580E-8B8F-2451EB4A5C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9532D6-39DA-958D-51DB-1D71DCBEE3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C65381-025A-C3E2-9A48-96CFE8B98DA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816CEB-1072-4B22-A473-588D7AF62EB2}" type="datetimeFigureOut">
              <a:rPr lang="en-IN" smtClean="0"/>
              <a:t>20-04-2026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145B3F-F87A-E427-9837-304E169A59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487EC7-7BD1-4047-A8C3-498FD35E15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A9E4B9-0DD6-4F17-A1A2-1B391774F1B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271272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A831E-D1DB-BDE8-DA0F-9D8044D8A61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Python Enablement for Gen AI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315B3B-2A6A-942B-EC5D-131373CA562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Ajay J. Singala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201399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7C374A9-1785-AE64-2B0A-D1C59FC722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4824" y="735106"/>
            <a:ext cx="10053763" cy="29284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>
                <a:solidFill>
                  <a:srgbClr val="FFFFFF"/>
                </a:solidFill>
              </a:rPr>
              <a:t>Performance Latency and Cost Optimization</a:t>
            </a:r>
            <a:endParaRPr lang="en-US" sz="48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2F5BD1-2BC9-18E1-BE9F-FC9DE6E251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50682" y="4870824"/>
            <a:ext cx="10005951" cy="1458258"/>
          </a:xfrm>
        </p:spPr>
        <p:txBody>
          <a:bodyPr vert="horz" lIns="91440" tIns="45720" rIns="91440" bIns="45720" rtlCol="0" anchor="ctr">
            <a:normAutofit/>
          </a:bodyPr>
          <a:lstStyle/>
          <a:p>
            <a:endParaRPr lang="en-US" sz="24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450060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3E8498D-DA8F-EF6C-5420-F153D4979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E39696-2F4E-A3CB-2B45-0571098FE7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7091" y="1814321"/>
            <a:ext cx="7772400" cy="456092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IN" sz="7200" dirty="0"/>
              <a:t>Cost Awareness</a:t>
            </a:r>
            <a:endParaRPr lang="en-US" sz="7800" b="1" dirty="0"/>
          </a:p>
        </p:txBody>
      </p:sp>
    </p:spTree>
    <p:extLst>
      <p:ext uri="{BB962C8B-B14F-4D97-AF65-F5344CB8AC3E}">
        <p14:creationId xmlns:p14="http://schemas.microsoft.com/office/powerpoint/2010/main" val="300439267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2FEBB8-F88F-D666-F290-2900F35F92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Cost Awareness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BFF1E4-E4A4-82BE-0128-F23052451D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dirty="0"/>
              <a:t>Token Usage Fundamentals</a:t>
            </a:r>
          </a:p>
          <a:p>
            <a:pPr lvl="1"/>
            <a:r>
              <a:rPr lang="en-IN" dirty="0"/>
              <a:t>LLM cost = </a:t>
            </a:r>
            <a:r>
              <a:rPr lang="en-IN" b="1" dirty="0"/>
              <a:t>Input tokens + Output tokens</a:t>
            </a:r>
            <a:r>
              <a:rPr lang="en-IN" dirty="0"/>
              <a:t> </a:t>
            </a:r>
          </a:p>
          <a:p>
            <a:pPr lvl="1"/>
            <a:r>
              <a:rPr lang="en-IN" dirty="0"/>
              <a:t>Tokens ≠ words (roughly: 1 token ≈ ¾ word) </a:t>
            </a:r>
          </a:p>
          <a:p>
            <a:pPr lvl="1"/>
            <a:endParaRPr lang="en-IN" b="1" dirty="0"/>
          </a:p>
          <a:p>
            <a:pPr lvl="1"/>
            <a:r>
              <a:rPr lang="en-IN" b="1" dirty="0"/>
              <a:t>Example</a:t>
            </a:r>
          </a:p>
          <a:p>
            <a:pPr lvl="2"/>
            <a:r>
              <a:rPr lang="en-IN" dirty="0"/>
              <a:t>Prompt:</a:t>
            </a:r>
          </a:p>
          <a:p>
            <a:pPr marL="1371600" lvl="3" indent="0">
              <a:buNone/>
            </a:pPr>
            <a:r>
              <a:rPr lang="en-IN" dirty="0">
                <a:latin typeface="Cascadia Code" panose="020B0609020000020004" pitchFamily="49" charset="0"/>
                <a:cs typeface="Cascadia Code" panose="020B0609020000020004" pitchFamily="49" charset="0"/>
              </a:rPr>
              <a:t>“Summarize this policy in 3 bullet points”</a:t>
            </a:r>
          </a:p>
          <a:p>
            <a:pPr lvl="2"/>
            <a:r>
              <a:rPr lang="en-IN" dirty="0"/>
              <a:t>Short prompt → fewer tokens → cheaper </a:t>
            </a:r>
          </a:p>
          <a:p>
            <a:pPr lvl="2"/>
            <a:r>
              <a:rPr lang="en-IN" dirty="0"/>
              <a:t>Long prompt with unnecessary context → higher cost </a:t>
            </a:r>
          </a:p>
          <a:p>
            <a:pPr lvl="1"/>
            <a:endParaRPr lang="en-IN" b="1" dirty="0"/>
          </a:p>
          <a:p>
            <a:pPr lvl="1"/>
            <a:r>
              <a:rPr lang="en-IN" b="1" dirty="0"/>
              <a:t>Key Insight</a:t>
            </a:r>
          </a:p>
          <a:p>
            <a:pPr lvl="2"/>
            <a:r>
              <a:rPr lang="en-IN" b="1" dirty="0"/>
              <a:t>Every extra word you send = money spent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446050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395BB-4124-273B-AEB1-F5CC2A77A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1D3225-6DA6-86CD-F36E-D6894BE0E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Cost Awareness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F5D4B9-06B1-7427-1D5A-9C3DC9FA11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b="1" dirty="0"/>
              <a:t>Prompt Shortening Techniques</a:t>
            </a:r>
          </a:p>
          <a:p>
            <a:pPr lvl="1"/>
            <a:r>
              <a:rPr lang="en-US" b="1" dirty="0"/>
              <a:t>Bad Prompt</a:t>
            </a:r>
          </a:p>
          <a:p>
            <a:pPr marL="914400" lvl="2" indent="0">
              <a:buNone/>
            </a:pP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“You are a highly intelligent assistant. Please carefully analyze the following document and provide a detailed but concise answer…”</a:t>
            </a:r>
          </a:p>
          <a:p>
            <a:pPr lvl="1"/>
            <a:endParaRPr lang="en-US" b="1" dirty="0"/>
          </a:p>
          <a:p>
            <a:pPr lvl="1"/>
            <a:r>
              <a:rPr lang="en-US" b="1" dirty="0"/>
              <a:t>Better Prompt</a:t>
            </a:r>
          </a:p>
          <a:p>
            <a:pPr marL="914400" lvl="2" indent="0">
              <a:buNone/>
            </a:pP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“Summarize in 3 bullets:”</a:t>
            </a:r>
          </a:p>
          <a:p>
            <a:pPr lvl="1"/>
            <a:endParaRPr lang="en-US" b="1" dirty="0"/>
          </a:p>
          <a:p>
            <a:pPr lvl="1"/>
            <a:r>
              <a:rPr lang="en-US" b="1" dirty="0"/>
              <a:t>Techniques</a:t>
            </a:r>
          </a:p>
          <a:p>
            <a:pPr lvl="2"/>
            <a:r>
              <a:rPr lang="en-US" dirty="0"/>
              <a:t>Remove: </a:t>
            </a:r>
          </a:p>
          <a:p>
            <a:pPr lvl="3"/>
            <a:r>
              <a:rPr lang="en-US" dirty="0"/>
              <a:t>Role fluff (“You are an expert…”)  where not required</a:t>
            </a:r>
          </a:p>
          <a:p>
            <a:pPr lvl="3"/>
            <a:r>
              <a:rPr lang="en-US" dirty="0"/>
              <a:t>Redundant instructions </a:t>
            </a:r>
          </a:p>
          <a:p>
            <a:pPr lvl="2"/>
            <a:r>
              <a:rPr lang="en-US" dirty="0"/>
              <a:t>Use: </a:t>
            </a:r>
          </a:p>
          <a:p>
            <a:pPr lvl="3"/>
            <a:r>
              <a:rPr lang="en-US" dirty="0"/>
              <a:t>Bullet constraints </a:t>
            </a:r>
          </a:p>
          <a:p>
            <a:pPr lvl="3"/>
            <a:r>
              <a:rPr lang="en-US" dirty="0"/>
              <a:t>Structured prompts </a:t>
            </a:r>
          </a:p>
          <a:p>
            <a:pPr lvl="1"/>
            <a:endParaRPr lang="en-US" b="1" dirty="0"/>
          </a:p>
          <a:p>
            <a:pPr lvl="1"/>
            <a:r>
              <a:rPr lang="en-US" b="1" dirty="0"/>
              <a:t>Example</a:t>
            </a:r>
          </a:p>
          <a:p>
            <a:pPr lvl="2"/>
            <a:r>
              <a:rPr lang="en-US" dirty="0"/>
              <a:t>Instead of:</a:t>
            </a:r>
          </a:p>
          <a:p>
            <a:pPr marL="1371600" lvl="3" indent="0">
              <a:buNone/>
            </a:pP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“Explain the reimbursement policy in detail”</a:t>
            </a:r>
          </a:p>
          <a:p>
            <a:pPr lvl="2"/>
            <a:r>
              <a:rPr lang="en-US" dirty="0"/>
              <a:t>Use:</a:t>
            </a:r>
          </a:p>
          <a:p>
            <a:pPr marL="1371600" lvl="3" indent="0">
              <a:buNone/>
            </a:pP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“List reimbursement limits in bullets”</a:t>
            </a:r>
          </a:p>
          <a:p>
            <a:pPr lvl="2"/>
            <a:r>
              <a:rPr lang="en-US" dirty="0"/>
              <a:t>Same output quality, lower cost</a:t>
            </a:r>
          </a:p>
        </p:txBody>
      </p:sp>
    </p:spTree>
    <p:extLst>
      <p:ext uri="{BB962C8B-B14F-4D97-AF65-F5344CB8AC3E}">
        <p14:creationId xmlns:p14="http://schemas.microsoft.com/office/powerpoint/2010/main" val="17305490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9685C6-0C9C-8D9D-C0D1-D5B27E780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8D1EF3-5D5E-08A0-1D7C-60F91FC01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Cost Awareness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448BD2-D936-604D-16C0-ABEEE284D8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b="1" dirty="0"/>
              <a:t>Response Caching Strategies</a:t>
            </a:r>
          </a:p>
          <a:p>
            <a:pPr lvl="1"/>
            <a:r>
              <a:rPr lang="en-US" b="1" dirty="0"/>
              <a:t>Idea</a:t>
            </a:r>
          </a:p>
          <a:p>
            <a:pPr lvl="2"/>
            <a:r>
              <a:rPr lang="en-US" dirty="0"/>
              <a:t>If the </a:t>
            </a:r>
            <a:r>
              <a:rPr lang="en-US" b="1" dirty="0"/>
              <a:t>same question comes again → don’t call the LLM again</a:t>
            </a:r>
            <a:endParaRPr lang="en-US" dirty="0"/>
          </a:p>
          <a:p>
            <a:pPr lvl="1"/>
            <a:endParaRPr lang="en-US" b="1" dirty="0"/>
          </a:p>
          <a:p>
            <a:pPr lvl="1"/>
            <a:r>
              <a:rPr lang="en-US" b="1" dirty="0"/>
              <a:t>Example</a:t>
            </a:r>
          </a:p>
          <a:p>
            <a:pPr lvl="2"/>
            <a:r>
              <a:rPr lang="en-US" dirty="0"/>
              <a:t>Customer asks:</a:t>
            </a:r>
          </a:p>
          <a:p>
            <a:pPr marL="1371600" lvl="3" indent="0">
              <a:buNone/>
            </a:pP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“What is the travel reimbursement policy?”</a:t>
            </a:r>
          </a:p>
          <a:p>
            <a:pPr lvl="2"/>
            <a:r>
              <a:rPr lang="en-US" dirty="0"/>
              <a:t>First time → LLM call </a:t>
            </a:r>
          </a:p>
          <a:p>
            <a:pPr lvl="2"/>
            <a:r>
              <a:rPr lang="en-US" dirty="0"/>
              <a:t>Next 100 times → return cached answer </a:t>
            </a:r>
          </a:p>
          <a:p>
            <a:pPr lvl="1"/>
            <a:endParaRPr lang="en-US" b="1" dirty="0"/>
          </a:p>
          <a:p>
            <a:pPr lvl="1"/>
            <a:r>
              <a:rPr lang="en-US" b="1" dirty="0"/>
              <a:t>Types of Caching</a:t>
            </a:r>
          </a:p>
          <a:p>
            <a:pPr lvl="2"/>
            <a:r>
              <a:rPr lang="en-US" dirty="0"/>
              <a:t>Exact match caching </a:t>
            </a:r>
          </a:p>
          <a:p>
            <a:pPr lvl="2"/>
            <a:r>
              <a:rPr lang="en-US" dirty="0"/>
              <a:t>Semantic caching (similar questions) </a:t>
            </a:r>
          </a:p>
          <a:p>
            <a:pPr lvl="1"/>
            <a:endParaRPr lang="en-US" b="1" dirty="0"/>
          </a:p>
          <a:p>
            <a:pPr lvl="1"/>
            <a:r>
              <a:rPr lang="en-US" b="1" dirty="0"/>
              <a:t>Benefit</a:t>
            </a:r>
          </a:p>
          <a:p>
            <a:pPr lvl="2"/>
            <a:r>
              <a:rPr lang="en-US" dirty="0"/>
              <a:t>Can reduce cost by </a:t>
            </a:r>
            <a:r>
              <a:rPr lang="en-US" b="1" dirty="0"/>
              <a:t>50–90% in production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87606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82C9F-117B-4E98-AE0B-31529AC8F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9DD459-1107-70E7-977E-0CBA5BFFE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Cost vs Quality Trade-offs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22EDB869-6A51-AC89-39C4-B0CF21A6864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98435306"/>
              </p:ext>
            </p:extLst>
          </p:nvPr>
        </p:nvGraphicFramePr>
        <p:xfrm>
          <a:off x="838200" y="3086894"/>
          <a:ext cx="10515600" cy="1828800"/>
        </p:xfrm>
        <a:graphic>
          <a:graphicData uri="http://schemas.openxmlformats.org/drawingml/2006/table">
            <a:tbl>
              <a:tblPr firstRow="1">
                <a:tableStyleId>{3C2FFA5D-87B4-456A-9821-1D502468CF0F}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29013838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828377148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31010501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88776796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Approach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Quality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When to Use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426516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Small 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FAQs, classification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935370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Large 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complex reasoning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95474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Short prompt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simple tasks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750937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Long context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RAG-heavy tasks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888106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675950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A12EA4-41D5-BE9E-0A66-853B09D494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EAF2990-75A6-DA72-1878-233B1420A1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5174D61-6667-C5B6-3CEC-620B27055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7091" y="1814321"/>
            <a:ext cx="7772400" cy="456092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IN" sz="8000" dirty="0"/>
              <a:t>Latency Optimization</a:t>
            </a:r>
            <a:endParaRPr lang="en-US" sz="7400" b="1" dirty="0"/>
          </a:p>
        </p:txBody>
      </p:sp>
    </p:spTree>
    <p:extLst>
      <p:ext uri="{BB962C8B-B14F-4D97-AF65-F5344CB8AC3E}">
        <p14:creationId xmlns:p14="http://schemas.microsoft.com/office/powerpoint/2010/main" val="5004218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01CF05-4DDB-0A5D-FCE5-CA24F427A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478CC1-084D-117C-D2A4-5CB3597EB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Latency Optimization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342CF7-D1F3-9C7D-F1BD-677E78DB93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b="1" dirty="0"/>
              <a:t>Async LLM Calls</a:t>
            </a:r>
          </a:p>
          <a:p>
            <a:pPr lvl="1"/>
            <a:r>
              <a:rPr lang="en-US" b="1" dirty="0"/>
              <a:t>Idea</a:t>
            </a:r>
          </a:p>
          <a:p>
            <a:pPr lvl="2"/>
            <a:r>
              <a:rPr lang="en-US" dirty="0"/>
              <a:t>Don’t wait for one call to finish before starting another</a:t>
            </a:r>
          </a:p>
          <a:p>
            <a:pPr lvl="1"/>
            <a:endParaRPr lang="en-US" b="1" dirty="0"/>
          </a:p>
          <a:p>
            <a:pPr lvl="1"/>
            <a:r>
              <a:rPr lang="en-US" b="1" dirty="0"/>
              <a:t>Example</a:t>
            </a:r>
          </a:p>
          <a:p>
            <a:pPr lvl="2"/>
            <a:r>
              <a:rPr lang="en-US" dirty="0"/>
              <a:t>Instead of:</a:t>
            </a:r>
          </a:p>
          <a:p>
            <a:pPr lvl="3"/>
            <a:r>
              <a:rPr lang="en-US" dirty="0"/>
              <a:t>Get summary </a:t>
            </a:r>
          </a:p>
          <a:p>
            <a:pPr lvl="3"/>
            <a:r>
              <a:rPr lang="en-US" dirty="0"/>
              <a:t>Then generate keywords </a:t>
            </a:r>
          </a:p>
          <a:p>
            <a:pPr lvl="3"/>
            <a:r>
              <a:rPr lang="en-US" dirty="0"/>
              <a:t>Then classify </a:t>
            </a:r>
          </a:p>
          <a:p>
            <a:pPr lvl="3"/>
            <a:r>
              <a:rPr lang="en-US" dirty="0"/>
              <a:t>Do:</a:t>
            </a:r>
          </a:p>
          <a:p>
            <a:pPr lvl="4"/>
            <a:r>
              <a:rPr lang="en-US" dirty="0"/>
              <a:t>Run all 3 at the same time</a:t>
            </a:r>
          </a:p>
          <a:p>
            <a:pPr lvl="2"/>
            <a:endParaRPr lang="en-US" b="1" dirty="0"/>
          </a:p>
          <a:p>
            <a:pPr lvl="2"/>
            <a:r>
              <a:rPr lang="en-US" b="1" dirty="0"/>
              <a:t>Result</a:t>
            </a:r>
          </a:p>
          <a:p>
            <a:pPr lvl="3"/>
            <a:r>
              <a:rPr lang="en-US" dirty="0"/>
              <a:t>Sequential: 6 seconds </a:t>
            </a:r>
          </a:p>
          <a:p>
            <a:pPr lvl="3"/>
            <a:r>
              <a:rPr lang="en-US" dirty="0"/>
              <a:t>Async: 2 seconds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37861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3553B-05EF-419D-4DD1-A1DB7C6379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BFC2AF-B057-121C-1966-793D4784BC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Latency Optimization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D18BB5-B15E-4B93-C006-F100F44982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dirty="0"/>
              <a:t>Parallel Retrieval &amp; Tool Execution</a:t>
            </a:r>
          </a:p>
          <a:p>
            <a:pPr lvl="1"/>
            <a:r>
              <a:rPr lang="en-IN" b="1" dirty="0"/>
              <a:t>Problem</a:t>
            </a:r>
          </a:p>
          <a:p>
            <a:pPr lvl="2"/>
            <a:r>
              <a:rPr lang="en-IN" dirty="0"/>
              <a:t>RAG systems often:</a:t>
            </a:r>
          </a:p>
          <a:p>
            <a:pPr lvl="3"/>
            <a:r>
              <a:rPr lang="en-IN" dirty="0"/>
              <a:t>Retrieve docs → then call tools → then LLM </a:t>
            </a:r>
          </a:p>
          <a:p>
            <a:pPr lvl="1"/>
            <a:endParaRPr lang="en-IN" b="1" dirty="0"/>
          </a:p>
          <a:p>
            <a:pPr lvl="1"/>
            <a:r>
              <a:rPr lang="en-IN" b="1" dirty="0"/>
              <a:t>Better Approach</a:t>
            </a:r>
          </a:p>
          <a:p>
            <a:pPr lvl="2"/>
            <a:r>
              <a:rPr lang="en-IN" dirty="0"/>
              <a:t>Do retrieval + tool calls in parallel</a:t>
            </a:r>
          </a:p>
          <a:p>
            <a:pPr lvl="1"/>
            <a:endParaRPr lang="en-IN" b="1" dirty="0"/>
          </a:p>
          <a:p>
            <a:pPr lvl="1"/>
            <a:r>
              <a:rPr lang="en-IN" b="1" dirty="0"/>
              <a:t>Example</a:t>
            </a:r>
          </a:p>
          <a:p>
            <a:pPr lvl="2"/>
            <a:r>
              <a:rPr lang="en-IN" dirty="0"/>
              <a:t>User asks:</a:t>
            </a:r>
          </a:p>
          <a:p>
            <a:pPr lvl="3"/>
            <a:r>
              <a:rPr lang="en-IN" dirty="0">
                <a:latin typeface="Cascadia Code" panose="020B0609020000020004" pitchFamily="49" charset="0"/>
                <a:cs typeface="Cascadia Code" panose="020B0609020000020004" pitchFamily="49" charset="0"/>
              </a:rPr>
              <a:t>“What is policy and reimbursement total for 3 days?”</a:t>
            </a:r>
          </a:p>
          <a:p>
            <a:pPr lvl="2"/>
            <a:r>
              <a:rPr lang="en-IN" dirty="0"/>
              <a:t>System:</a:t>
            </a:r>
          </a:p>
          <a:p>
            <a:pPr lvl="3"/>
            <a:r>
              <a:rPr lang="en-IN" dirty="0"/>
              <a:t>Retrieve policy docs </a:t>
            </a:r>
          </a:p>
          <a:p>
            <a:pPr lvl="3"/>
            <a:r>
              <a:rPr lang="en-IN" dirty="0"/>
              <a:t>Calculate cost</a:t>
            </a:r>
          </a:p>
          <a:p>
            <a:pPr marL="1371600" lvl="3" indent="0">
              <a:buNone/>
            </a:pPr>
            <a:r>
              <a:rPr lang="en-IN" dirty="0"/>
              <a:t>At the same time</a:t>
            </a:r>
          </a:p>
        </p:txBody>
      </p:sp>
    </p:spTree>
    <p:extLst>
      <p:ext uri="{BB962C8B-B14F-4D97-AF65-F5344CB8AC3E}">
        <p14:creationId xmlns:p14="http://schemas.microsoft.com/office/powerpoint/2010/main" val="33871727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066D5B-16B3-B8F2-75BB-E4B5AFD15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AB853-794F-7692-4026-32B2B0931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Latency Optimization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DFA803-B56D-68D0-1D42-FD5BC9ACD6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Latency Measurement Techniques</a:t>
            </a:r>
          </a:p>
          <a:p>
            <a:pPr lvl="1"/>
            <a:r>
              <a:rPr lang="en-US" b="1" dirty="0"/>
              <a:t>What to Measure</a:t>
            </a:r>
          </a:p>
          <a:p>
            <a:pPr lvl="2"/>
            <a:r>
              <a:rPr lang="en-US" dirty="0"/>
              <a:t>LLM response time </a:t>
            </a:r>
          </a:p>
          <a:p>
            <a:pPr lvl="2"/>
            <a:r>
              <a:rPr lang="en-US" dirty="0"/>
              <a:t>Retrieval time </a:t>
            </a:r>
          </a:p>
          <a:p>
            <a:pPr lvl="2"/>
            <a:r>
              <a:rPr lang="en-US" dirty="0"/>
              <a:t>Tool execution time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12839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53309-07C5-E3DD-66A0-C584AE2C4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91141C-7455-3F79-EDCE-B9940A568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Latency Optimization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84E74C-781B-5852-D429-1C6C645863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dirty="0"/>
              <a:t>User-Perceived vs System Latency</a:t>
            </a:r>
          </a:p>
          <a:p>
            <a:pPr lvl="1"/>
            <a:r>
              <a:rPr lang="en-IN" b="1" dirty="0"/>
              <a:t>System Latency</a:t>
            </a:r>
          </a:p>
          <a:p>
            <a:pPr lvl="2"/>
            <a:r>
              <a:rPr lang="en-IN" dirty="0"/>
              <a:t>Actual processing time</a:t>
            </a:r>
          </a:p>
          <a:p>
            <a:pPr lvl="1"/>
            <a:endParaRPr lang="en-IN" b="1" dirty="0"/>
          </a:p>
          <a:p>
            <a:pPr lvl="1"/>
            <a:r>
              <a:rPr lang="en-IN" b="1" dirty="0"/>
              <a:t>User-Perceived Latency</a:t>
            </a:r>
          </a:p>
          <a:p>
            <a:pPr lvl="2"/>
            <a:r>
              <a:rPr lang="en-IN" dirty="0"/>
              <a:t>What user </a:t>
            </a:r>
            <a:r>
              <a:rPr lang="en-IN" i="1" dirty="0"/>
              <a:t>feels</a:t>
            </a:r>
            <a:endParaRPr lang="en-IN" dirty="0"/>
          </a:p>
          <a:p>
            <a:pPr lvl="1"/>
            <a:endParaRPr lang="en-IN" b="1" dirty="0"/>
          </a:p>
          <a:p>
            <a:pPr lvl="1"/>
            <a:r>
              <a:rPr lang="en-IN" b="1" dirty="0"/>
              <a:t>Trick</a:t>
            </a:r>
          </a:p>
          <a:p>
            <a:pPr lvl="2"/>
            <a:r>
              <a:rPr lang="en-IN" dirty="0"/>
              <a:t>Streaming responses</a:t>
            </a:r>
          </a:p>
          <a:p>
            <a:pPr lvl="1"/>
            <a:endParaRPr lang="en-IN" b="1" dirty="0"/>
          </a:p>
          <a:p>
            <a:pPr lvl="1"/>
            <a:r>
              <a:rPr lang="en-IN" b="1" dirty="0"/>
              <a:t>Example</a:t>
            </a:r>
          </a:p>
          <a:p>
            <a:pPr lvl="2"/>
            <a:r>
              <a:rPr lang="en-IN" dirty="0"/>
              <a:t>Without streaming → user waits 3 sec </a:t>
            </a:r>
          </a:p>
          <a:p>
            <a:pPr lvl="2"/>
            <a:r>
              <a:rPr lang="en-IN" dirty="0"/>
              <a:t>With streaming → user sees response in 0.5 sec </a:t>
            </a:r>
          </a:p>
          <a:p>
            <a:pPr lvl="2"/>
            <a:r>
              <a:rPr lang="en-IN" dirty="0"/>
              <a:t>Same system latency, better experience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118513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7147B9-7CA1-2BFB-3BAE-22394C608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21E8737-4CCE-1CDA-1452-D7FE9F3227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1FC7A4-EC18-2FF0-3B55-35CCC111A6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7091" y="1814321"/>
            <a:ext cx="7772400" cy="456092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IN" sz="8000" dirty="0"/>
              <a:t>Production Readiness Review</a:t>
            </a:r>
            <a:endParaRPr lang="en-US" sz="7400" b="1" dirty="0"/>
          </a:p>
        </p:txBody>
      </p:sp>
    </p:spTree>
    <p:extLst>
      <p:ext uri="{BB962C8B-B14F-4D97-AF65-F5344CB8AC3E}">
        <p14:creationId xmlns:p14="http://schemas.microsoft.com/office/powerpoint/2010/main" val="100748461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9D9CB-6300-D4D8-8053-5AD7FE790A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6C92F3-C696-9CD5-806B-E741CC5F1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Production Readiness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D37105-20DC-61DB-4A72-F86FE42961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b="1" dirty="0"/>
              <a:t>Reliability &amp; Fallback Strategies</a:t>
            </a:r>
          </a:p>
          <a:p>
            <a:pPr lvl="1"/>
            <a:r>
              <a:rPr lang="en-US" b="1" dirty="0"/>
              <a:t>Why?</a:t>
            </a:r>
          </a:p>
          <a:p>
            <a:pPr lvl="2"/>
            <a:r>
              <a:rPr lang="en-US" dirty="0"/>
              <a:t>LLMs can fail:</a:t>
            </a:r>
          </a:p>
          <a:p>
            <a:pPr lvl="2"/>
            <a:r>
              <a:rPr lang="en-US" dirty="0"/>
              <a:t>Timeout </a:t>
            </a:r>
          </a:p>
          <a:p>
            <a:pPr lvl="2"/>
            <a:r>
              <a:rPr lang="en-US" dirty="0"/>
              <a:t>Hallucination </a:t>
            </a:r>
          </a:p>
          <a:p>
            <a:pPr lvl="2"/>
            <a:r>
              <a:rPr lang="en-US" dirty="0"/>
              <a:t>API errors </a:t>
            </a:r>
          </a:p>
          <a:p>
            <a:pPr lvl="1"/>
            <a:endParaRPr lang="en-US" b="1" dirty="0"/>
          </a:p>
          <a:p>
            <a:pPr lvl="1"/>
            <a:r>
              <a:rPr lang="en-US" b="1" dirty="0"/>
              <a:t>Strategies</a:t>
            </a:r>
          </a:p>
          <a:p>
            <a:pPr lvl="2"/>
            <a:r>
              <a:rPr lang="en-US" dirty="0"/>
              <a:t>Retry (2–3 times) </a:t>
            </a:r>
          </a:p>
          <a:p>
            <a:pPr lvl="2"/>
            <a:r>
              <a:rPr lang="en-US" dirty="0"/>
              <a:t>Fallback model </a:t>
            </a:r>
          </a:p>
          <a:p>
            <a:pPr lvl="2"/>
            <a:r>
              <a:rPr lang="en-US" dirty="0"/>
              <a:t>Rule-based backup </a:t>
            </a:r>
          </a:p>
          <a:p>
            <a:pPr lvl="1"/>
            <a:endParaRPr lang="en-US" b="1" dirty="0"/>
          </a:p>
          <a:p>
            <a:pPr lvl="1"/>
            <a:r>
              <a:rPr lang="en-US" b="1" dirty="0"/>
              <a:t>Example</a:t>
            </a:r>
          </a:p>
          <a:p>
            <a:pPr lvl="2"/>
            <a:r>
              <a:rPr lang="en-US" dirty="0"/>
              <a:t>If LLM fails, return:</a:t>
            </a:r>
          </a:p>
          <a:p>
            <a:pPr marL="1371600" lvl="3" indent="0">
              <a:buNone/>
            </a:pP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“Unable to process. Showing policy summary instead.”</a:t>
            </a:r>
          </a:p>
        </p:txBody>
      </p:sp>
    </p:spTree>
    <p:extLst>
      <p:ext uri="{BB962C8B-B14F-4D97-AF65-F5344CB8AC3E}">
        <p14:creationId xmlns:p14="http://schemas.microsoft.com/office/powerpoint/2010/main" val="11196971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AED982-535A-7286-0C9A-A24DE7B66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46192-CF4E-C775-99B3-5BABE68631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3600" dirty="0"/>
              <a:t>Production Readiness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5F186D-47E9-005E-00A7-1D1947BF77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dirty="0"/>
              <a:t>Observability Coverage Checklist</a:t>
            </a:r>
          </a:p>
          <a:p>
            <a:pPr lvl="1"/>
            <a:r>
              <a:rPr lang="en-IN" dirty="0"/>
              <a:t>Track everything:</a:t>
            </a:r>
          </a:p>
          <a:p>
            <a:pPr lvl="2"/>
            <a:r>
              <a:rPr lang="en-IN" b="1" dirty="0"/>
              <a:t>Inputs</a:t>
            </a:r>
          </a:p>
          <a:p>
            <a:pPr lvl="3"/>
            <a:r>
              <a:rPr lang="en-IN" dirty="0"/>
              <a:t>Prompt </a:t>
            </a:r>
          </a:p>
          <a:p>
            <a:pPr lvl="3"/>
            <a:r>
              <a:rPr lang="en-IN" dirty="0"/>
              <a:t>Retrieved documents </a:t>
            </a:r>
          </a:p>
          <a:p>
            <a:pPr lvl="2"/>
            <a:endParaRPr lang="en-IN" b="1" dirty="0"/>
          </a:p>
          <a:p>
            <a:pPr lvl="2"/>
            <a:r>
              <a:rPr lang="en-IN" b="1" dirty="0"/>
              <a:t>Outputs</a:t>
            </a:r>
          </a:p>
          <a:p>
            <a:pPr lvl="3"/>
            <a:r>
              <a:rPr lang="en-IN" dirty="0"/>
              <a:t>LLM response </a:t>
            </a:r>
          </a:p>
          <a:p>
            <a:pPr lvl="3"/>
            <a:r>
              <a:rPr lang="en-IN" dirty="0"/>
              <a:t>Confidence / evaluation score </a:t>
            </a:r>
          </a:p>
          <a:p>
            <a:pPr lvl="2"/>
            <a:endParaRPr lang="en-IN" b="1" dirty="0"/>
          </a:p>
          <a:p>
            <a:pPr lvl="2"/>
            <a:r>
              <a:rPr lang="en-IN" b="1" dirty="0"/>
              <a:t>Metrics</a:t>
            </a:r>
          </a:p>
          <a:p>
            <a:pPr lvl="3"/>
            <a:r>
              <a:rPr lang="en-IN" dirty="0"/>
              <a:t>Latency </a:t>
            </a:r>
          </a:p>
          <a:p>
            <a:pPr lvl="3"/>
            <a:r>
              <a:rPr lang="en-IN" dirty="0"/>
              <a:t>Cost </a:t>
            </a:r>
          </a:p>
          <a:p>
            <a:pPr lvl="3"/>
            <a:r>
              <a:rPr lang="en-IN" dirty="0"/>
              <a:t>Errors </a:t>
            </a:r>
          </a:p>
          <a:p>
            <a:pPr lvl="2"/>
            <a:endParaRPr lang="en-IN" dirty="0"/>
          </a:p>
          <a:p>
            <a:pPr lvl="1"/>
            <a:r>
              <a:rPr lang="en-IN" dirty="0"/>
              <a:t>Without observability = blind system</a:t>
            </a:r>
          </a:p>
        </p:txBody>
      </p:sp>
    </p:spTree>
    <p:extLst>
      <p:ext uri="{BB962C8B-B14F-4D97-AF65-F5344CB8AC3E}">
        <p14:creationId xmlns:p14="http://schemas.microsoft.com/office/powerpoint/2010/main" val="33665900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38BEE1-5D50-EFA2-FCF3-D790336E64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69BBDF-66B8-90CD-5DAB-940A6B78A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3600" dirty="0"/>
              <a:t>Production Readiness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A87CDE-D993-EFD8-DF96-378B994B43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b="1" dirty="0"/>
              <a:t>Readiness for Real-World Traffic</a:t>
            </a:r>
          </a:p>
          <a:p>
            <a:pPr lvl="1"/>
            <a:r>
              <a:rPr lang="en-US" b="1" dirty="0"/>
              <a:t>Challenges</a:t>
            </a:r>
          </a:p>
          <a:p>
            <a:pPr lvl="2"/>
            <a:r>
              <a:rPr lang="en-US" dirty="0"/>
              <a:t>High concurrency </a:t>
            </a:r>
          </a:p>
          <a:p>
            <a:pPr lvl="2"/>
            <a:r>
              <a:rPr lang="en-US" dirty="0"/>
              <a:t>Spikes (sale events, peak hours) </a:t>
            </a:r>
          </a:p>
          <a:p>
            <a:pPr lvl="1"/>
            <a:endParaRPr lang="en-US" b="1" dirty="0"/>
          </a:p>
          <a:p>
            <a:pPr lvl="1"/>
            <a:r>
              <a:rPr lang="en-US" b="1" dirty="0"/>
              <a:t>Example</a:t>
            </a:r>
          </a:p>
          <a:p>
            <a:pPr lvl="2"/>
            <a:r>
              <a:rPr lang="en-US" dirty="0"/>
              <a:t>During sale:</a:t>
            </a:r>
          </a:p>
          <a:p>
            <a:pPr lvl="2"/>
            <a:r>
              <a:rPr lang="en-US" dirty="0"/>
              <a:t>10 → 10,000 users suddenly </a:t>
            </a:r>
          </a:p>
          <a:p>
            <a:pPr lvl="1"/>
            <a:endParaRPr lang="en-US" b="1" dirty="0"/>
          </a:p>
          <a:p>
            <a:pPr lvl="1"/>
            <a:r>
              <a:rPr lang="en-US" b="1" dirty="0"/>
              <a:t>What to Ensure</a:t>
            </a:r>
          </a:p>
          <a:p>
            <a:pPr lvl="2"/>
            <a:r>
              <a:rPr lang="en-US" dirty="0"/>
              <a:t>Rate limiting </a:t>
            </a:r>
          </a:p>
          <a:p>
            <a:pPr lvl="2"/>
            <a:r>
              <a:rPr lang="en-US" dirty="0"/>
              <a:t>Queueing </a:t>
            </a:r>
          </a:p>
          <a:p>
            <a:pPr lvl="2"/>
            <a:r>
              <a:rPr lang="en-US" dirty="0"/>
              <a:t>Load balancing</a:t>
            </a:r>
          </a:p>
        </p:txBody>
      </p:sp>
    </p:spTree>
    <p:extLst>
      <p:ext uri="{BB962C8B-B14F-4D97-AF65-F5344CB8AC3E}">
        <p14:creationId xmlns:p14="http://schemas.microsoft.com/office/powerpoint/2010/main" val="14513496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A88A8D-30A6-C769-8687-5662B01833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21AA3-7B1C-C948-1851-07B19F8A22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3600" dirty="0"/>
              <a:t>Production Readiness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FC5022-FAB4-3FF1-8E5D-3787B779DA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Common Production Anti-Patterns</a:t>
            </a:r>
          </a:p>
          <a:p>
            <a:pPr marL="457200" lvl="1" indent="0">
              <a:buNone/>
            </a:pPr>
            <a:r>
              <a:rPr lang="en-US" b="1" dirty="0"/>
              <a:t>1. Overloading prompts</a:t>
            </a:r>
          </a:p>
          <a:p>
            <a:pPr lvl="2"/>
            <a:r>
              <a:rPr lang="en-US" dirty="0"/>
              <a:t>Too much context → high cost + slow</a:t>
            </a:r>
          </a:p>
          <a:p>
            <a:pPr marL="457200" lvl="1" indent="0">
              <a:buNone/>
            </a:pPr>
            <a:r>
              <a:rPr lang="en-US" b="1" dirty="0"/>
              <a:t>2. No caching</a:t>
            </a:r>
          </a:p>
          <a:p>
            <a:pPr lvl="2"/>
            <a:r>
              <a:rPr lang="en-US" dirty="0"/>
              <a:t>Repeated identical calls → waste of money</a:t>
            </a:r>
          </a:p>
          <a:p>
            <a:pPr marL="457200" lvl="1" indent="0">
              <a:buNone/>
            </a:pPr>
            <a:r>
              <a:rPr lang="en-US" b="1" dirty="0"/>
              <a:t>3. Using one model for everything</a:t>
            </a:r>
          </a:p>
          <a:p>
            <a:pPr lvl="2"/>
            <a:r>
              <a:rPr lang="en-US" dirty="0"/>
              <a:t>Expensive and inefficient</a:t>
            </a:r>
          </a:p>
          <a:p>
            <a:pPr marL="457200" lvl="1" indent="0">
              <a:buNone/>
            </a:pPr>
            <a:r>
              <a:rPr lang="en-US" b="1" dirty="0"/>
              <a:t>4. No monitoring</a:t>
            </a:r>
          </a:p>
          <a:p>
            <a:pPr lvl="2"/>
            <a:r>
              <a:rPr lang="en-US" dirty="0"/>
              <a:t>Issues detected too late</a:t>
            </a:r>
          </a:p>
          <a:p>
            <a:pPr marL="457200" lvl="1" indent="0">
              <a:buNone/>
            </a:pPr>
            <a:r>
              <a:rPr lang="en-US" b="1" dirty="0"/>
              <a:t>5. Sequential workflows</a:t>
            </a:r>
          </a:p>
          <a:p>
            <a:pPr lvl="2"/>
            <a:r>
              <a:rPr lang="en-US" dirty="0"/>
              <a:t>Slow systems</a:t>
            </a:r>
          </a:p>
        </p:txBody>
      </p:sp>
    </p:spTree>
    <p:extLst>
      <p:ext uri="{BB962C8B-B14F-4D97-AF65-F5344CB8AC3E}">
        <p14:creationId xmlns:p14="http://schemas.microsoft.com/office/powerpoint/2010/main" val="29927625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681F4E-6337-5995-65E0-7E0FB6589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38ED7-DE40-ACF9-5259-EB02E1073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3600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A4449F-5A26-F1FE-8295-78751126A3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Cost Optimization</a:t>
            </a:r>
            <a:r>
              <a:rPr lang="en-US" dirty="0"/>
              <a:t> = “Don’t spend unnecessary tokens”</a:t>
            </a:r>
          </a:p>
          <a:p>
            <a:r>
              <a:rPr lang="en-US" b="1" dirty="0"/>
              <a:t>Latency Optimization</a:t>
            </a:r>
            <a:r>
              <a:rPr lang="en-US" dirty="0"/>
              <a:t> = “Don’t make users wait”</a:t>
            </a:r>
          </a:p>
          <a:p>
            <a:r>
              <a:rPr lang="en-US" b="1" dirty="0"/>
              <a:t>Production Readiness</a:t>
            </a:r>
            <a:r>
              <a:rPr lang="en-US" dirty="0"/>
              <a:t> = “Don’t let the system fail in real life”</a:t>
            </a:r>
          </a:p>
          <a:p>
            <a:endParaRPr lang="en-US" dirty="0"/>
          </a:p>
          <a:p>
            <a:r>
              <a:rPr lang="en-US" dirty="0"/>
              <a:t>So,</a:t>
            </a:r>
          </a:p>
          <a:p>
            <a:pPr lvl="1"/>
            <a:r>
              <a:rPr lang="en-US" dirty="0"/>
              <a:t>Reduce tokens 		→ reduce cost</a:t>
            </a:r>
          </a:p>
          <a:p>
            <a:pPr lvl="1"/>
            <a:r>
              <a:rPr lang="en-US" dirty="0"/>
              <a:t>Parallelize 		→ reduce latency</a:t>
            </a:r>
          </a:p>
          <a:p>
            <a:pPr lvl="1"/>
            <a:r>
              <a:rPr lang="en-US" dirty="0"/>
              <a:t>Cache aggressively 	→ save money</a:t>
            </a:r>
          </a:p>
          <a:p>
            <a:pPr lvl="1"/>
            <a:r>
              <a:rPr lang="en-US" dirty="0"/>
              <a:t>Monitor everything 	→ ensure reliability</a:t>
            </a:r>
          </a:p>
          <a:p>
            <a:pPr lvl="1"/>
            <a:r>
              <a:rPr lang="en-US" dirty="0"/>
              <a:t>Use right model for right task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84773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66E82C-20D6-BE62-C2BE-13A40A844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EB474-E6FD-15E1-06BB-B9A1E6EEF4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8D72EB-0C47-7A9D-0A30-CF5CE683E6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/>
              <a:t>Evaluation, Observability &amp; Cost Awareness</a:t>
            </a:r>
          </a:p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559054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266804-B56F-083C-3F6B-0DF22CC191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A952B5-46D9-5C09-0C9A-0DD2CD24B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479826-5E44-C184-8C42-0C25F6EB17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077755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199</TotalTime>
  <Words>661</Words>
  <Application>Microsoft Office PowerPoint</Application>
  <PresentationFormat>Widescreen</PresentationFormat>
  <Paragraphs>205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Aptos</vt:lpstr>
      <vt:lpstr>Aptos Display</vt:lpstr>
      <vt:lpstr>Arial</vt:lpstr>
      <vt:lpstr>Cascadia Code</vt:lpstr>
      <vt:lpstr>Neue Haas Grotesk Text Pro</vt:lpstr>
      <vt:lpstr>Office Theme</vt:lpstr>
      <vt:lpstr>1_Office Theme</vt:lpstr>
      <vt:lpstr>Python Enablement for Gen AI</vt:lpstr>
      <vt:lpstr>Performance Latency and Cost Optimization</vt:lpstr>
      <vt:lpstr>Cost Awareness</vt:lpstr>
      <vt:lpstr>Cost Awareness</vt:lpstr>
      <vt:lpstr>Cost Awareness</vt:lpstr>
      <vt:lpstr>Cost Awareness</vt:lpstr>
      <vt:lpstr>Cost vs Quality Trade-offs</vt:lpstr>
      <vt:lpstr>Latency Optimization</vt:lpstr>
      <vt:lpstr>Latency Optimization</vt:lpstr>
      <vt:lpstr>Latency Optimization</vt:lpstr>
      <vt:lpstr>Latency Optimization</vt:lpstr>
      <vt:lpstr>Latency Optimization</vt:lpstr>
      <vt:lpstr>Production Readiness Review</vt:lpstr>
      <vt:lpstr>Production Readiness Review</vt:lpstr>
      <vt:lpstr>Production Readiness Review</vt:lpstr>
      <vt:lpstr>Production Readiness Review</vt:lpstr>
      <vt:lpstr>Production Readiness Review</vt:lpstr>
      <vt:lpstr>Summary</vt:lpstr>
      <vt:lpstr>Demo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Ajay Singala</dc:creator>
  <cp:lastModifiedBy>Ajay Singala</cp:lastModifiedBy>
  <cp:revision>84</cp:revision>
  <dcterms:created xsi:type="dcterms:W3CDTF">2026-04-01T13:32:53Z</dcterms:created>
  <dcterms:modified xsi:type="dcterms:W3CDTF">2026-04-20T13:21:43Z</dcterms:modified>
</cp:coreProperties>
</file>