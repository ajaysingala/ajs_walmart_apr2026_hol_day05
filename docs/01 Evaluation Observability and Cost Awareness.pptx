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83" r:id="rId7"/>
    <p:sldId id="284" r:id="rId8"/>
    <p:sldId id="285" r:id="rId9"/>
    <p:sldId id="286" r:id="rId10"/>
    <p:sldId id="287" r:id="rId11"/>
    <p:sldId id="288" r:id="rId12"/>
    <p:sldId id="299" r:id="rId13"/>
    <p:sldId id="290" r:id="rId14"/>
    <p:sldId id="292" r:id="rId15"/>
    <p:sldId id="293" r:id="rId16"/>
    <p:sldId id="294" r:id="rId17"/>
    <p:sldId id="295" r:id="rId18"/>
    <p:sldId id="300" r:id="rId19"/>
    <p:sldId id="282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Evaluation, Observability &amp; Cost Awareness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7200" dirty="0"/>
              <a:t>Why Evaluation Matters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Evaluation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Hallucinations &amp; Silent Failures</a:t>
            </a:r>
          </a:p>
          <a:p>
            <a:pPr lvl="1"/>
            <a:r>
              <a:rPr lang="en-US" b="1" dirty="0"/>
              <a:t>Problem:</a:t>
            </a:r>
          </a:p>
          <a:p>
            <a:pPr lvl="2"/>
            <a:r>
              <a:rPr lang="en-US" dirty="0"/>
              <a:t>LLMs can sound confident even when they are wrong.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</a:p>
          <a:p>
            <a:pPr lvl="2"/>
            <a:r>
              <a:rPr lang="en-US" dirty="0"/>
              <a:t>Policy says: </a:t>
            </a:r>
            <a:r>
              <a:rPr lang="en-US" i="1" dirty="0"/>
              <a:t>Meal reimbursement cap = $30/day</a:t>
            </a:r>
          </a:p>
          <a:p>
            <a:pPr lvl="2"/>
            <a:r>
              <a:rPr lang="en-US" dirty="0"/>
              <a:t>User asks: </a:t>
            </a:r>
            <a:r>
              <a:rPr lang="en-US" i="1" dirty="0"/>
              <a:t>“Can I claim $50 per day?”</a:t>
            </a:r>
          </a:p>
          <a:p>
            <a:pPr lvl="2"/>
            <a:r>
              <a:rPr lang="en-US" dirty="0"/>
              <a:t>Model responds: </a:t>
            </a:r>
            <a:r>
              <a:rPr lang="en-US" i="1" dirty="0"/>
              <a:t>“Yes, up to $50 is allowed.”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This is a </a:t>
            </a:r>
            <a:r>
              <a:rPr lang="en-US" b="1" dirty="0"/>
              <a:t>hallucination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Silent Failure:</a:t>
            </a:r>
          </a:p>
          <a:p>
            <a:pPr lvl="2"/>
            <a:r>
              <a:rPr lang="en-US" dirty="0"/>
              <a:t>Model gives </a:t>
            </a:r>
            <a:r>
              <a:rPr lang="en-US" i="1" dirty="0"/>
              <a:t>plausible but incorrect</a:t>
            </a:r>
            <a:r>
              <a:rPr lang="en-US" dirty="0"/>
              <a:t> answer — no error thrown.</a:t>
            </a:r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95BB-4124-273B-AEB1-F5CC2A77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3225-6DA6-86CD-F36E-D6894BE0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Evaluation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D4B9-06B1-7427-1D5A-9C3DC9FA1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2. Output Drift Over Time</a:t>
            </a:r>
          </a:p>
          <a:p>
            <a:pPr lvl="1"/>
            <a:r>
              <a:rPr lang="en-IN" dirty="0"/>
              <a:t>Even with the same prompt, outputs can change due to:</a:t>
            </a:r>
          </a:p>
          <a:p>
            <a:pPr lvl="2"/>
            <a:r>
              <a:rPr lang="en-IN" dirty="0"/>
              <a:t>Model updates </a:t>
            </a:r>
          </a:p>
          <a:p>
            <a:pPr lvl="2"/>
            <a:r>
              <a:rPr lang="en-IN" dirty="0"/>
              <a:t>Temperature randomness </a:t>
            </a:r>
          </a:p>
          <a:p>
            <a:pPr lvl="2"/>
            <a:r>
              <a:rPr lang="en-IN" dirty="0"/>
              <a:t>Context variations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dirty="0"/>
              <a:t>Same query over time:</a:t>
            </a:r>
          </a:p>
          <a:p>
            <a:pPr lvl="3"/>
            <a:r>
              <a:rPr lang="en-IN" dirty="0"/>
              <a:t>Day 1 → “Cap is $30” </a:t>
            </a:r>
          </a:p>
          <a:p>
            <a:pPr lvl="3"/>
            <a:r>
              <a:rPr lang="en-IN" dirty="0"/>
              <a:t>Day 10 → “Cap is approximately $25–35” </a:t>
            </a:r>
          </a:p>
          <a:p>
            <a:pPr lvl="3"/>
            <a:r>
              <a:rPr lang="en-IN" dirty="0"/>
              <a:t>Day 20 → “No strict cap mentioned” </a:t>
            </a:r>
          </a:p>
          <a:p>
            <a:pPr lvl="1"/>
            <a:r>
              <a:rPr lang="en-IN" dirty="0"/>
              <a:t>This is </a:t>
            </a:r>
            <a:r>
              <a:rPr lang="en-IN" b="1" dirty="0"/>
              <a:t>drift</a:t>
            </a:r>
            <a:r>
              <a:rPr lang="en-IN" dirty="0"/>
              <a:t>.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Risk:</a:t>
            </a:r>
          </a:p>
          <a:p>
            <a:pPr lvl="2"/>
            <a:r>
              <a:rPr lang="en-IN" dirty="0"/>
              <a:t>Inconsistent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730549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85C6-0C9C-8D9D-C0D1-D5B27E78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1EF3-5D5E-08A0-1D7C-60F91FC0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Evaluation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48BD2-D936-604D-16C0-ABEEE284D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What to Measure (Practical Metrics Only)</a:t>
            </a:r>
          </a:p>
          <a:p>
            <a:pPr lvl="1"/>
            <a:r>
              <a:rPr lang="en-US" dirty="0"/>
              <a:t>Avoid academic metrics. Focus on </a:t>
            </a:r>
            <a:r>
              <a:rPr lang="en-US" b="1" dirty="0"/>
              <a:t>business-relevant ones</a:t>
            </a:r>
            <a:endParaRPr lang="en-US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Core Metrics:</a:t>
            </a:r>
          </a:p>
          <a:p>
            <a:pPr lvl="2"/>
            <a:r>
              <a:rPr lang="en-US" b="1" dirty="0"/>
              <a:t>Accuracy</a:t>
            </a:r>
            <a:r>
              <a:rPr lang="en-US" dirty="0"/>
              <a:t> → Is the answer correct? </a:t>
            </a:r>
          </a:p>
          <a:p>
            <a:pPr lvl="2"/>
            <a:r>
              <a:rPr lang="en-US" b="1" dirty="0"/>
              <a:t>Relevance</a:t>
            </a:r>
            <a:r>
              <a:rPr lang="en-US" dirty="0"/>
              <a:t> → Did it answer the question? </a:t>
            </a:r>
          </a:p>
          <a:p>
            <a:pPr lvl="2"/>
            <a:r>
              <a:rPr lang="en-US" b="1" dirty="0" err="1"/>
              <a:t>Groundedness</a:t>
            </a:r>
            <a:r>
              <a:rPr lang="en-US" dirty="0"/>
              <a:t> → Is it based on retrieved context? </a:t>
            </a:r>
          </a:p>
          <a:p>
            <a:pPr lvl="2"/>
            <a:r>
              <a:rPr lang="en-US" b="1" dirty="0"/>
              <a:t>Completeness</a:t>
            </a:r>
            <a:r>
              <a:rPr lang="en-US" dirty="0"/>
              <a:t> → Did it miss anything important? </a:t>
            </a:r>
          </a:p>
          <a:p>
            <a:pPr lvl="2"/>
            <a:r>
              <a:rPr lang="en-US" b="1" dirty="0"/>
              <a:t>Consistency</a:t>
            </a:r>
            <a:r>
              <a:rPr lang="en-US" dirty="0"/>
              <a:t> → Same input → similar output?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6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2C9F-117B-4E98-AE0B-31529AC8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D459-1107-70E7-977E-0CBA5BFF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Evaluation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B8BC-DA73-DFB9-A397-E69684AD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4. Qualitative vs Heuristic Evaluation</a:t>
            </a:r>
          </a:p>
          <a:p>
            <a:pPr lvl="1"/>
            <a:r>
              <a:rPr lang="en-US" b="1" dirty="0"/>
              <a:t>Qualitative (Human Judgment)</a:t>
            </a:r>
          </a:p>
          <a:p>
            <a:pPr lvl="2"/>
            <a:r>
              <a:rPr lang="en-US" dirty="0"/>
              <a:t>Manual review </a:t>
            </a:r>
          </a:p>
          <a:p>
            <a:pPr lvl="2"/>
            <a:r>
              <a:rPr lang="en-US" dirty="0"/>
              <a:t>Subjective but reliable </a:t>
            </a:r>
          </a:p>
          <a:p>
            <a:pPr lvl="2"/>
            <a:r>
              <a:rPr lang="en-US" b="1" dirty="0"/>
              <a:t>Example:</a:t>
            </a:r>
          </a:p>
          <a:p>
            <a:pPr lvl="3"/>
            <a:r>
              <a:rPr lang="en-US" dirty="0"/>
              <a:t>Reviewer scores answer:</a:t>
            </a:r>
          </a:p>
          <a:p>
            <a:pPr lvl="4"/>
            <a:r>
              <a:rPr lang="en-US" dirty="0"/>
              <a:t>Correctness: 4/5 </a:t>
            </a:r>
          </a:p>
          <a:p>
            <a:pPr lvl="4"/>
            <a:r>
              <a:rPr lang="en-US" dirty="0"/>
              <a:t>Clarity: 5/5 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Heuristic (Rule-based)</a:t>
            </a:r>
          </a:p>
          <a:p>
            <a:pPr lvl="2"/>
            <a:r>
              <a:rPr lang="en-US" dirty="0"/>
              <a:t>Automated checks </a:t>
            </a:r>
          </a:p>
          <a:p>
            <a:pPr lvl="2"/>
            <a:r>
              <a:rPr lang="en-US" dirty="0"/>
              <a:t>Faster but imperfect </a:t>
            </a:r>
          </a:p>
          <a:p>
            <a:pPr lvl="2"/>
            <a:r>
              <a:rPr lang="en-US" b="1" dirty="0"/>
              <a:t>Examples:</a:t>
            </a:r>
            <a:endParaRPr lang="en-US" dirty="0"/>
          </a:p>
          <a:p>
            <a:pPr lvl="3"/>
            <a:r>
              <a:rPr lang="en-US" dirty="0"/>
              <a:t>Does answer contain "$30"? </a:t>
            </a:r>
          </a:p>
          <a:p>
            <a:pPr lvl="3"/>
            <a:r>
              <a:rPr lang="en-US" dirty="0"/>
              <a:t>Does response length exceed limit? </a:t>
            </a:r>
          </a:p>
          <a:p>
            <a:pPr lvl="3"/>
            <a:r>
              <a:rPr lang="en-US" dirty="0"/>
              <a:t>Does it include unsupported claims?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Best practice: </a:t>
            </a:r>
            <a:r>
              <a:rPr lang="en-US" b="1" dirty="0"/>
              <a:t>Combine both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59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12EA4-41D5-BE9E-0A66-853B09D4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AF2990-75A6-DA72-1878-233B1420A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74D61-6667-C5B6-3CEC-620B2705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Basic Evaluation Techniques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500421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CF05-4DDB-0A5D-FCE5-CA24F427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8CC1-084D-117C-D2A4-5CB3597E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Evaluation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42CF7-D1F3-9C7D-F1BD-677E78DB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Prompt–Response Comparison</a:t>
            </a:r>
          </a:p>
          <a:p>
            <a:pPr lvl="1"/>
            <a:r>
              <a:rPr lang="en-US" dirty="0"/>
              <a:t>Compare:</a:t>
            </a:r>
          </a:p>
          <a:p>
            <a:pPr lvl="2"/>
            <a:r>
              <a:rPr lang="en-US" dirty="0"/>
              <a:t>Expected answer vs actual output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</a:p>
          <a:p>
            <a:pPr lvl="2"/>
            <a:r>
              <a:rPr lang="en-US" dirty="0"/>
              <a:t>Prompt: </a:t>
            </a:r>
            <a:r>
              <a:rPr lang="en-US" i="1" dirty="0"/>
              <a:t>“What is hotel cap?”</a:t>
            </a:r>
            <a:endParaRPr lang="en-US" dirty="0"/>
          </a:p>
          <a:p>
            <a:pPr lvl="2"/>
            <a:r>
              <a:rPr lang="en-US" dirty="0"/>
              <a:t>Expected: “$150/night” </a:t>
            </a:r>
          </a:p>
          <a:p>
            <a:pPr lvl="2"/>
            <a:r>
              <a:rPr lang="en-US" dirty="0"/>
              <a:t>Model: “$120/night”</a:t>
            </a:r>
          </a:p>
          <a:p>
            <a:pPr lvl="2"/>
            <a:r>
              <a:rPr lang="en-US" dirty="0"/>
              <a:t>Easy way to spot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86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553B-05EF-419D-4DD1-A1DB7C63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C2AF-B057-121C-1966-793D4784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Evaluation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8BB5-B15E-4B93-C006-F100F4498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Manual Relevance Scoring</a:t>
            </a:r>
          </a:p>
          <a:p>
            <a:pPr lvl="1"/>
            <a:r>
              <a:rPr lang="en-IN" dirty="0"/>
              <a:t>Use a simple scale: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1"/>
            <a:r>
              <a:rPr lang="en-US" b="1" dirty="0"/>
              <a:t>Example:</a:t>
            </a:r>
          </a:p>
          <a:p>
            <a:pPr lvl="2"/>
            <a:r>
              <a:rPr lang="en-US" dirty="0"/>
              <a:t>Answer includes correct cap but extra irrelevant info → Score = 3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92C065-41D0-D507-29A5-DC6D400DC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41506"/>
              </p:ext>
            </p:extLst>
          </p:nvPr>
        </p:nvGraphicFramePr>
        <p:xfrm>
          <a:off x="838200" y="2771934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135710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71999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57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Completely wrong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922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Partially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22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Fully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107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17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6D5B-16B3-B8F2-75BB-E4B5AFD1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B853-794F-7692-4026-32B2B093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Evaluation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FA803-B56D-68D0-1D42-FD5BC9ACD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Simple Heuristic Scoring</a:t>
            </a:r>
          </a:p>
          <a:p>
            <a:pPr lvl="1"/>
            <a:r>
              <a:rPr lang="en-US" dirty="0"/>
              <a:t>Define rules:</a:t>
            </a:r>
          </a:p>
          <a:p>
            <a:pPr lvl="2"/>
            <a:r>
              <a:rPr lang="en-US" dirty="0"/>
              <a:t>If answer contains correct number → +1 </a:t>
            </a:r>
          </a:p>
          <a:p>
            <a:pPr lvl="2"/>
            <a:r>
              <a:rPr lang="en-US" dirty="0"/>
              <a:t>If irrelevant info → -1 </a:t>
            </a:r>
          </a:p>
          <a:p>
            <a:pPr lvl="2"/>
            <a:r>
              <a:rPr lang="en-US" dirty="0"/>
              <a:t>If missing key info → -1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Example:</a:t>
            </a:r>
          </a:p>
          <a:p>
            <a:pPr lvl="2"/>
            <a:r>
              <a:rPr lang="en-US" dirty="0"/>
              <a:t>Answer: “Meals capped at $30 but varies by city”</a:t>
            </a:r>
          </a:p>
          <a:p>
            <a:pPr lvl="2"/>
            <a:r>
              <a:rPr lang="en-US" dirty="0"/>
              <a:t>Score:</a:t>
            </a:r>
          </a:p>
          <a:p>
            <a:pPr lvl="3"/>
            <a:r>
              <a:rPr lang="en-US" dirty="0"/>
              <a:t>Correct number → +1 </a:t>
            </a:r>
          </a:p>
          <a:p>
            <a:pPr lvl="3"/>
            <a:r>
              <a:rPr lang="en-US" dirty="0"/>
              <a:t>Extra unsupported info → -1</a:t>
            </a:r>
          </a:p>
          <a:p>
            <a:pPr lvl="3"/>
            <a:r>
              <a:rPr lang="en-US" dirty="0"/>
              <a:t>Final score = 0</a:t>
            </a:r>
          </a:p>
        </p:txBody>
      </p:sp>
    </p:spTree>
    <p:extLst>
      <p:ext uri="{BB962C8B-B14F-4D97-AF65-F5344CB8AC3E}">
        <p14:creationId xmlns:p14="http://schemas.microsoft.com/office/powerpoint/2010/main" val="4021283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3309-07C5-E3DD-66A0-C584AE2C4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141C-7455-3F79-EDCE-B9940A56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Evaluation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E74C-781B-5852-D429-1C6C64586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Logging Evaluation Results</a:t>
            </a:r>
          </a:p>
          <a:p>
            <a:pPr lvl="1"/>
            <a:r>
              <a:rPr lang="en-IN" dirty="0"/>
              <a:t>Always log:</a:t>
            </a:r>
          </a:p>
          <a:p>
            <a:pPr lvl="2"/>
            <a:r>
              <a:rPr lang="en-IN" dirty="0"/>
              <a:t>Prompt </a:t>
            </a:r>
          </a:p>
          <a:p>
            <a:pPr lvl="2"/>
            <a:r>
              <a:rPr lang="en-IN" dirty="0"/>
              <a:t>Retrieved context </a:t>
            </a:r>
          </a:p>
          <a:p>
            <a:pPr lvl="2"/>
            <a:r>
              <a:rPr lang="en-IN" dirty="0"/>
              <a:t>Model response </a:t>
            </a:r>
          </a:p>
          <a:p>
            <a:pPr lvl="2"/>
            <a:r>
              <a:rPr lang="en-IN" dirty="0"/>
              <a:t>Evaluation score </a:t>
            </a:r>
          </a:p>
          <a:p>
            <a:pPr lvl="2"/>
            <a:r>
              <a:rPr lang="en-IN" dirty="0"/>
              <a:t>Timestamp </a:t>
            </a:r>
          </a:p>
          <a:p>
            <a:pPr lvl="1"/>
            <a:endParaRPr lang="en-IN" b="1" dirty="0"/>
          </a:p>
          <a:p>
            <a:pPr lvl="1"/>
            <a:r>
              <a:rPr lang="en-IN" dirty="0"/>
              <a:t>Example Log Entry:</a:t>
            </a:r>
          </a:p>
          <a:p>
            <a:pPr lvl="2"/>
            <a:r>
              <a:rPr lang="en-IN" dirty="0"/>
              <a:t>Query: Meal reimbursement?</a:t>
            </a:r>
          </a:p>
          <a:p>
            <a:pPr lvl="2"/>
            <a:r>
              <a:rPr lang="en-IN" dirty="0"/>
              <a:t>Context: Policy doc chunk</a:t>
            </a:r>
          </a:p>
          <a:p>
            <a:pPr lvl="2"/>
            <a:r>
              <a:rPr lang="en-IN" dirty="0"/>
              <a:t>Response: $50 per day</a:t>
            </a:r>
          </a:p>
          <a:p>
            <a:pPr lvl="2"/>
            <a:r>
              <a:rPr lang="en-IN" dirty="0"/>
              <a:t>Score: 1/5</a:t>
            </a:r>
          </a:p>
          <a:p>
            <a:pPr lvl="1"/>
            <a:r>
              <a:rPr lang="en-IN" dirty="0"/>
              <a:t>This becomes your </a:t>
            </a:r>
            <a:r>
              <a:rPr lang="en-IN" b="1" dirty="0"/>
              <a:t>evaluation dataset over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851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147B9-7CA1-2BFB-3BAE-22394C60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1E8737-4CCE-1CDA-1452-D7FE9F322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FC7A4-EC18-2FF0-3B55-35CCC111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Tracing &amp; Debugging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007484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D9CB-6300-D4D8-8053-5AD7FE79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92F3-C696-9CD5-806B-E741CC5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Tracing &amp;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7105-20DC-61DB-4A72-F86FE429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Input / Output Tracing</a:t>
            </a:r>
          </a:p>
          <a:p>
            <a:pPr lvl="1"/>
            <a:r>
              <a:rPr lang="en-IN" dirty="0"/>
              <a:t>Track full pipeline:</a:t>
            </a:r>
          </a:p>
          <a:p>
            <a:pPr lvl="2"/>
            <a:r>
              <a:rPr lang="en-IN" dirty="0"/>
              <a:t>User Query → Retrieved Docs → Prompt → Model Output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Example:</a:t>
            </a:r>
            <a:endParaRPr lang="en-IN" dirty="0"/>
          </a:p>
          <a:p>
            <a:pPr lvl="2"/>
            <a:r>
              <a:rPr lang="en-IN" dirty="0"/>
              <a:t>Query: “Meal cap?” </a:t>
            </a:r>
          </a:p>
          <a:p>
            <a:pPr lvl="2"/>
            <a:r>
              <a:rPr lang="en-IN" dirty="0"/>
              <a:t>Retrieved doc: </a:t>
            </a:r>
            <a:r>
              <a:rPr lang="en-IN" i="1" dirty="0"/>
              <a:t>Taxi reimbursement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Output: Wrong answer</a:t>
            </a:r>
          </a:p>
          <a:p>
            <a:pPr lvl="2"/>
            <a:r>
              <a:rPr lang="en-IN" dirty="0"/>
              <a:t>Issue = </a:t>
            </a:r>
            <a:r>
              <a:rPr lang="en-IN" b="1" dirty="0"/>
              <a:t>retrieval problem</a:t>
            </a:r>
            <a:r>
              <a:rPr lang="en-IN" dirty="0"/>
              <a:t>, not model problem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697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D982-535A-7286-0C9A-A24DE7B6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6192-CF4E-C775-99B3-5BABE686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Tracing &amp;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186D-47E9-005E-00A7-1D1947BF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Prompt &amp; Response Logging</a:t>
            </a:r>
          </a:p>
          <a:p>
            <a:pPr lvl="1"/>
            <a:r>
              <a:rPr lang="en-US" dirty="0"/>
              <a:t>Store:</a:t>
            </a:r>
          </a:p>
          <a:p>
            <a:pPr lvl="2"/>
            <a:r>
              <a:rPr lang="en-US" dirty="0"/>
              <a:t>Final prompt sent to LLM </a:t>
            </a:r>
          </a:p>
          <a:p>
            <a:pPr lvl="2"/>
            <a:r>
              <a:rPr lang="en-US" dirty="0"/>
              <a:t>Full response </a:t>
            </a:r>
          </a:p>
          <a:p>
            <a:pPr lvl="1"/>
            <a:r>
              <a:rPr lang="en-US" b="1" dirty="0"/>
              <a:t>Why?</a:t>
            </a:r>
            <a:endParaRPr lang="en-US" dirty="0"/>
          </a:p>
          <a:p>
            <a:pPr lvl="2"/>
            <a:r>
              <a:rPr lang="en-US" dirty="0"/>
              <a:t>Helps reproduce issues </a:t>
            </a:r>
          </a:p>
          <a:p>
            <a:pPr lvl="2"/>
            <a:r>
              <a:rPr lang="en-US" dirty="0"/>
              <a:t>Helps compare versions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90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BEE1-5D50-EFA2-FCF3-D790336E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BBDF-66B8-90CD-5DAB-940A6B78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Tracing &amp;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7CDE-D993-EFD8-DF96-378B994B4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Error Analysis Using Logs</a:t>
            </a:r>
          </a:p>
          <a:p>
            <a:pPr lvl="1"/>
            <a:r>
              <a:rPr lang="en-IN" dirty="0"/>
              <a:t>When something goes wrong, ask:</a:t>
            </a:r>
          </a:p>
          <a:p>
            <a:pPr lvl="2"/>
            <a:r>
              <a:rPr lang="en-IN" b="1" dirty="0"/>
              <a:t>Step-by-step diagnosis:</a:t>
            </a:r>
          </a:p>
          <a:p>
            <a:pPr lvl="3"/>
            <a:r>
              <a:rPr lang="en-IN" b="1" dirty="0"/>
              <a:t>Was retrieval correct?</a:t>
            </a:r>
            <a:r>
              <a:rPr lang="en-IN" dirty="0"/>
              <a:t> </a:t>
            </a:r>
          </a:p>
          <a:p>
            <a:pPr lvl="4"/>
            <a:r>
              <a:rPr lang="en-IN" dirty="0"/>
              <a:t>If no → fix retriever </a:t>
            </a:r>
          </a:p>
          <a:p>
            <a:pPr lvl="3"/>
            <a:r>
              <a:rPr lang="en-IN" b="1" dirty="0"/>
              <a:t>Was prompt clear?</a:t>
            </a:r>
            <a:r>
              <a:rPr lang="en-IN" dirty="0"/>
              <a:t> </a:t>
            </a:r>
          </a:p>
          <a:p>
            <a:pPr lvl="4"/>
            <a:r>
              <a:rPr lang="en-IN" dirty="0"/>
              <a:t>If no → improve prompt </a:t>
            </a:r>
          </a:p>
          <a:p>
            <a:pPr lvl="3"/>
            <a:r>
              <a:rPr lang="en-IN" b="1" dirty="0"/>
              <a:t>Did model hallucinate?</a:t>
            </a:r>
            <a:r>
              <a:rPr lang="en-IN" dirty="0"/>
              <a:t> </a:t>
            </a:r>
          </a:p>
          <a:p>
            <a:pPr lvl="4"/>
            <a:r>
              <a:rPr lang="en-IN" dirty="0"/>
              <a:t>If yes → add guardrails 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Example:</a:t>
            </a:r>
          </a:p>
          <a:p>
            <a:pPr lvl="2"/>
            <a:r>
              <a:rPr lang="en-IN" dirty="0"/>
              <a:t>Wrong answer: "$50/day"</a:t>
            </a:r>
          </a:p>
          <a:p>
            <a:pPr lvl="2"/>
            <a:r>
              <a:rPr lang="en-IN" dirty="0"/>
              <a:t>Analysis:</a:t>
            </a:r>
          </a:p>
          <a:p>
            <a:pPr lvl="3"/>
            <a:r>
              <a:rPr lang="en-IN" dirty="0"/>
              <a:t>Retrieval: correct doc ($30) </a:t>
            </a:r>
          </a:p>
          <a:p>
            <a:pPr lvl="3"/>
            <a:r>
              <a:rPr lang="en-IN" dirty="0"/>
              <a:t>Prompt: vague </a:t>
            </a:r>
          </a:p>
          <a:p>
            <a:pPr lvl="3"/>
            <a:r>
              <a:rPr lang="en-IN" dirty="0"/>
              <a:t>Model: hallucinated </a:t>
            </a:r>
          </a:p>
          <a:p>
            <a:pPr lvl="2"/>
            <a:r>
              <a:rPr lang="en-IN" dirty="0"/>
              <a:t>Fix = </a:t>
            </a:r>
            <a:r>
              <a:rPr lang="en-IN" b="1" dirty="0"/>
              <a:t>better prompt + grounding instruction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349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8A8D-30A6-C769-8687-5662B018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1AA3-7B1C-C948-1851-07B19F8A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Tracing &amp;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5022-FAB4-3FF1-8E5D-3787B779D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Debugging Agent Failures</a:t>
            </a:r>
          </a:p>
          <a:p>
            <a:pPr lvl="1"/>
            <a:r>
              <a:rPr lang="en-IN" dirty="0"/>
              <a:t>Agents fail in different ways.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Common Failures:</a:t>
            </a:r>
          </a:p>
          <a:p>
            <a:pPr lvl="2"/>
            <a:r>
              <a:rPr lang="en-IN" b="1" dirty="0"/>
              <a:t>Tool not called</a:t>
            </a:r>
          </a:p>
          <a:p>
            <a:pPr lvl="3"/>
            <a:r>
              <a:rPr lang="en-IN" dirty="0"/>
              <a:t>User: “Calculate reimbursement for 3 days”</a:t>
            </a:r>
          </a:p>
          <a:p>
            <a:pPr lvl="3"/>
            <a:r>
              <a:rPr lang="en-IN" dirty="0"/>
              <a:t>Agent: Gives generic answer</a:t>
            </a:r>
          </a:p>
          <a:p>
            <a:pPr lvl="3"/>
            <a:r>
              <a:rPr lang="en-IN" dirty="0"/>
              <a:t>Fix: Improve tool instructions</a:t>
            </a:r>
          </a:p>
          <a:p>
            <a:pPr lvl="2"/>
            <a:endParaRPr lang="en-IN" b="1" dirty="0"/>
          </a:p>
          <a:p>
            <a:pPr lvl="2"/>
            <a:r>
              <a:rPr lang="en-IN" b="1" dirty="0"/>
              <a:t>Wrong tool used</a:t>
            </a:r>
          </a:p>
          <a:p>
            <a:pPr lvl="3"/>
            <a:r>
              <a:rPr lang="en-IN" dirty="0"/>
              <a:t>Agent calls “policy lookup” instead of “calculator”</a:t>
            </a:r>
          </a:p>
          <a:p>
            <a:pPr lvl="3"/>
            <a:r>
              <a:rPr lang="en-IN" dirty="0"/>
              <a:t>Fix: Better tool descriptions</a:t>
            </a:r>
          </a:p>
          <a:p>
            <a:pPr lvl="2"/>
            <a:endParaRPr lang="en-IN" b="1" dirty="0"/>
          </a:p>
          <a:p>
            <a:pPr lvl="2"/>
            <a:r>
              <a:rPr lang="en-IN" b="1" dirty="0"/>
              <a:t>Infinite loops / retries</a:t>
            </a:r>
          </a:p>
          <a:p>
            <a:pPr lvl="3"/>
            <a:r>
              <a:rPr lang="en-IN" dirty="0"/>
              <a:t>Agent keeps retrying same step</a:t>
            </a:r>
          </a:p>
          <a:p>
            <a:pPr lvl="3"/>
            <a:r>
              <a:rPr lang="en-IN" dirty="0"/>
              <a:t>Fix:</a:t>
            </a:r>
          </a:p>
          <a:p>
            <a:pPr lvl="4"/>
            <a:r>
              <a:rPr lang="en-IN" dirty="0"/>
              <a:t>Add retry limits </a:t>
            </a:r>
          </a:p>
          <a:p>
            <a:pPr lvl="4"/>
            <a:r>
              <a:rPr lang="en-IN" dirty="0"/>
              <a:t>Add failure conditions </a:t>
            </a:r>
          </a:p>
          <a:p>
            <a:pPr lvl="2"/>
            <a:endParaRPr lang="en-IN" b="1" dirty="0"/>
          </a:p>
          <a:p>
            <a:pPr lvl="2"/>
            <a:r>
              <a:rPr lang="en-IN" b="1" dirty="0"/>
              <a:t>Partial reasoning failure</a:t>
            </a:r>
          </a:p>
          <a:p>
            <a:pPr lvl="3"/>
            <a:r>
              <a:rPr lang="en-IN" dirty="0"/>
              <a:t>Agent retrieves correct data but fails to compute</a:t>
            </a:r>
          </a:p>
          <a:p>
            <a:pPr lvl="3"/>
            <a:r>
              <a:rPr lang="en-IN" dirty="0"/>
              <a:t>Fix: Add </a:t>
            </a:r>
            <a:r>
              <a:rPr lang="en-IN" b="1" dirty="0"/>
              <a:t>calculation tool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762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Evaluation, Observability &amp; Cost Awareness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736</Words>
  <Application>Microsoft Office PowerPoint</Application>
  <PresentationFormat>Widescreen</PresentationFormat>
  <Paragraphs>182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Neue Haas Grotesk Text Pro</vt:lpstr>
      <vt:lpstr>Office Theme</vt:lpstr>
      <vt:lpstr>1_Office Theme</vt:lpstr>
      <vt:lpstr>Python Enablement for Gen AI</vt:lpstr>
      <vt:lpstr>Evaluation, Observability &amp; Cost Awareness</vt:lpstr>
      <vt:lpstr>Why Evaluation Matters</vt:lpstr>
      <vt:lpstr>Why Evaluation Matters</vt:lpstr>
      <vt:lpstr>Why Evaluation Matters</vt:lpstr>
      <vt:lpstr>Why Evaluation Matters</vt:lpstr>
      <vt:lpstr>Why Evaluation Matters</vt:lpstr>
      <vt:lpstr>Basic Evaluation Techniques</vt:lpstr>
      <vt:lpstr>Basic Evaluation Techniques</vt:lpstr>
      <vt:lpstr>Basic Evaluation Techniques</vt:lpstr>
      <vt:lpstr>Basic Evaluation Techniques</vt:lpstr>
      <vt:lpstr>Basic Evaluation Techniques</vt:lpstr>
      <vt:lpstr>Tracing &amp; Debugging</vt:lpstr>
      <vt:lpstr>Tracing &amp; Debugging</vt:lpstr>
      <vt:lpstr>Tracing &amp; Debugging</vt:lpstr>
      <vt:lpstr>Tracing &amp; Debugging</vt:lpstr>
      <vt:lpstr>Tracing &amp; Debugging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68</cp:revision>
  <dcterms:created xsi:type="dcterms:W3CDTF">2026-04-01T13:32:53Z</dcterms:created>
  <dcterms:modified xsi:type="dcterms:W3CDTF">2026-04-20T09:56:37Z</dcterms:modified>
</cp:coreProperties>
</file>